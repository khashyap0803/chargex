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8"/>
  </p:notesMasterIdLst>
  <p:sldIdLst>
    <p:sldId id="256" r:id="rId2"/>
    <p:sldId id="257" r:id="rId3"/>
    <p:sldId id="279" r:id="rId4"/>
    <p:sldId id="258" r:id="rId5"/>
    <p:sldId id="275" r:id="rId6"/>
    <p:sldId id="276" r:id="rId7"/>
    <p:sldId id="280" r:id="rId8"/>
    <p:sldId id="281" r:id="rId9"/>
    <p:sldId id="283" r:id="rId10"/>
    <p:sldId id="284" r:id="rId11"/>
    <p:sldId id="277" r:id="rId12"/>
    <p:sldId id="266" r:id="rId13"/>
    <p:sldId id="267" r:id="rId14"/>
    <p:sldId id="273" r:id="rId15"/>
    <p:sldId id="264" r:id="rId16"/>
    <p:sldId id="269"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579"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22" d="100"/>
          <a:sy n="122" d="100"/>
        </p:scale>
        <p:origin x="322" y="91"/>
      </p:cViewPr>
      <p:guideLst>
        <p:guide orient="horz" pos="157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88aadc108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88aadc108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88aadc108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88aadc108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8aadc108d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8aadc108d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d94f1be0e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d94f1be0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8aadc108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8aadc108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88aadc108d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88aadc108d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28650" y="4767263"/>
            <a:ext cx="2057400" cy="273844"/>
          </a:xfrm>
        </p:spPr>
        <p:txBody>
          <a:bodyPr/>
          <a:lstStyle/>
          <a:p>
            <a:fld id="{0903E5C9-2807-43F0-A1C8-E310013DED67}" type="datetime1">
              <a:rPr lang="en-US" smtClean="0"/>
              <a:t>9/17/2025</a:t>
            </a:fld>
            <a:endParaRPr lang="en-US"/>
          </a:p>
        </p:txBody>
      </p:sp>
      <p:sp>
        <p:nvSpPr>
          <p:cNvPr id="5" name="Footer Placeholder 4"/>
          <p:cNvSpPr>
            <a:spLocks noGrp="1"/>
          </p:cNvSpPr>
          <p:nvPr>
            <p:ph type="ftr" sz="quarter" idx="11"/>
          </p:nvPr>
        </p:nvSpPr>
        <p:spPr>
          <a:xfrm>
            <a:off x="3028950" y="4767263"/>
            <a:ext cx="3086100" cy="273844"/>
          </a:xfrm>
        </p:spPr>
        <p:txBody>
          <a:bodyPr/>
          <a:lstStyle/>
          <a:p>
            <a:r>
              <a:rPr lang="en-US"/>
              <a:t>Seminar/Project title</a:t>
            </a:r>
          </a:p>
        </p:txBody>
      </p:sp>
      <p:sp>
        <p:nvSpPr>
          <p:cNvPr id="6" name="Slide Number Placeholder 5"/>
          <p:cNvSpPr>
            <a:spLocks noGrp="1"/>
          </p:cNvSpPr>
          <p:nvPr>
            <p:ph type="sldNum" sz="quarter" idx="12"/>
          </p:nvPr>
        </p:nvSpPr>
        <p:spPr/>
        <p:txBody>
          <a:bodyPr/>
          <a:lstStyle/>
          <a:p>
            <a:fld id="{9BC567C3-B2D5-46D6-B103-873CDC8DC37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srXwrA99-VF7XcuzCSusKryth1s777V4/view?usp=sharing" TargetMode="External"/><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hyperlink" Target="https://drive.google.com/file/d/1-88w30KFtx5MvQRvl4Y7Q7BYtkRm01We/view?usp=sharin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file/d/1xeJX53olVor5KHPmzG2oMdSdnwgO3OYr/view?usp=sharing" TargetMode="External"/><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hyperlink" Target="https://drive.google.com/file/d/1tOmPZ8SPt7JVdW4Ps4_tjSkTZCQDLLzp/view?usp=sharin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98750" y="792600"/>
            <a:ext cx="8746500" cy="377952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2500">
                <a:solidFill>
                  <a:srgbClr val="FF0000"/>
                </a:solidFill>
              </a:rPr>
              <a:t>Project Part -1 </a:t>
            </a:r>
            <a:endParaRPr sz="2500">
              <a:solidFill>
                <a:srgbClr val="FF0000"/>
              </a:solidFill>
            </a:endParaRPr>
          </a:p>
          <a:p>
            <a:pPr marL="0" lvl="0" indent="0" algn="ctr" rtl="0">
              <a:lnSpc>
                <a:spcPct val="115000"/>
              </a:lnSpc>
              <a:spcBef>
                <a:spcPts val="0"/>
              </a:spcBef>
              <a:spcAft>
                <a:spcPts val="0"/>
              </a:spcAft>
              <a:buNone/>
            </a:pPr>
            <a:r>
              <a:rPr lang="en-GB" sz="2000">
                <a:solidFill>
                  <a:srgbClr val="FF0000"/>
                </a:solidFill>
              </a:rPr>
              <a:t>PID- 4</a:t>
            </a:r>
            <a:r>
              <a:rPr lang="en-US" altLang="en-GB" sz="2000">
                <a:solidFill>
                  <a:srgbClr val="FF0000"/>
                </a:solidFill>
              </a:rPr>
              <a:t>3</a:t>
            </a:r>
            <a:endParaRPr sz="2000">
              <a:solidFill>
                <a:srgbClr val="FF0000"/>
              </a:solidFill>
            </a:endParaRPr>
          </a:p>
          <a:p>
            <a:pPr marL="0" lvl="0" indent="0" algn="ctr" rtl="0">
              <a:lnSpc>
                <a:spcPct val="115000"/>
              </a:lnSpc>
              <a:spcBef>
                <a:spcPts val="0"/>
              </a:spcBef>
              <a:spcAft>
                <a:spcPts val="0"/>
              </a:spcAft>
              <a:buNone/>
            </a:pPr>
            <a:endParaRPr>
              <a:solidFill>
                <a:srgbClr val="FF0000"/>
              </a:solidFill>
            </a:endParaRPr>
          </a:p>
          <a:p>
            <a:pPr algn="ctr">
              <a:defRPr/>
            </a:pPr>
            <a:r>
              <a:rPr lang="en-US" sz="2400" dirty="0" err="1">
                <a:latin typeface="Times New Roman" panose="02020503050405090304" pitchFamily="18" charset="0"/>
                <a:cs typeface="Times New Roman" panose="02020503050405090304" pitchFamily="18" charset="0"/>
                <a:sym typeface="+mn-ea"/>
              </a:rPr>
              <a:t>ChargeX</a:t>
            </a:r>
            <a:r>
              <a:rPr lang="en-US" sz="2400" dirty="0">
                <a:latin typeface="Times New Roman" panose="02020503050405090304" pitchFamily="18" charset="0"/>
                <a:cs typeface="Times New Roman" panose="02020503050405090304" pitchFamily="18" charset="0"/>
                <a:sym typeface="+mn-ea"/>
              </a:rPr>
              <a:t>: Intelligent EV Charging Station Locator with Slot Booking and Smart Assistance</a:t>
            </a:r>
          </a:p>
          <a:p>
            <a:pPr algn="ctr">
              <a:defRPr/>
            </a:pPr>
            <a:endParaRPr lang="en-US" sz="2800" dirty="0" err="1">
              <a:solidFill>
                <a:srgbClr val="134F5C"/>
              </a:solidFill>
              <a:latin typeface="Times New Roman" panose="02020503050405090304" pitchFamily="18" charset="0"/>
              <a:cs typeface="Times New Roman" panose="02020503050405090304" pitchFamily="18" charset="0"/>
              <a:sym typeface="+mn-ea"/>
            </a:endParaRPr>
          </a:p>
          <a:p>
            <a:pPr algn="ctr">
              <a:defRPr/>
            </a:pPr>
            <a:r>
              <a:rPr lang="en-US" sz="1800" dirty="0" err="1">
                <a:latin typeface="Times New Roman" panose="02020503050405090304" pitchFamily="18" charset="0"/>
                <a:cs typeface="Times New Roman" panose="02020503050405090304" pitchFamily="18" charset="0"/>
                <a:sym typeface="+mn-ea"/>
              </a:rPr>
              <a:t>J.Gnana</a:t>
            </a:r>
            <a:r>
              <a:rPr lang="en-US" sz="1800" dirty="0">
                <a:latin typeface="Times New Roman" panose="02020503050405090304" pitchFamily="18" charset="0"/>
                <a:cs typeface="Times New Roman" panose="02020503050405090304" pitchFamily="18" charset="0"/>
                <a:sym typeface="+mn-ea"/>
              </a:rPr>
              <a:t> Shreeya-160122733076</a:t>
            </a:r>
            <a:endParaRPr lang="en-US" sz="1800" dirty="0">
              <a:latin typeface="Times New Roman" panose="02020503050405090304" pitchFamily="18" charset="0"/>
              <a:cs typeface="Times New Roman" panose="02020503050405090304" pitchFamily="18" charset="0"/>
            </a:endParaRPr>
          </a:p>
          <a:p>
            <a:pPr algn="ctr">
              <a:defRPr/>
            </a:pPr>
            <a:r>
              <a:rPr lang="en-US" sz="1800" dirty="0" err="1">
                <a:latin typeface="Times New Roman" panose="02020503050405090304" pitchFamily="18" charset="0"/>
                <a:cs typeface="Times New Roman" panose="02020503050405090304" pitchFamily="18" charset="0"/>
                <a:sym typeface="+mn-ea"/>
              </a:rPr>
              <a:t>Kukati</a:t>
            </a:r>
            <a:r>
              <a:rPr lang="en-US" sz="1800" dirty="0">
                <a:latin typeface="Times New Roman" panose="02020503050405090304" pitchFamily="18" charset="0"/>
                <a:cs typeface="Times New Roman" panose="02020503050405090304" pitchFamily="18" charset="0"/>
                <a:sym typeface="+mn-ea"/>
              </a:rPr>
              <a:t> Pragnya-160122733081</a:t>
            </a:r>
            <a:endParaRPr lang="en-US" sz="1800" dirty="0">
              <a:latin typeface="Times New Roman" panose="02020503050405090304" pitchFamily="18" charset="0"/>
              <a:cs typeface="Times New Roman" panose="02020503050405090304" pitchFamily="18" charset="0"/>
            </a:endParaRPr>
          </a:p>
          <a:p>
            <a:pPr algn="ctr">
              <a:defRPr/>
            </a:pPr>
            <a:endParaRPr lang="en-US" sz="1800" b="1" dirty="0" err="1">
              <a:solidFill>
                <a:srgbClr val="000000"/>
              </a:solidFill>
              <a:latin typeface="Times New Roman" panose="02020503050405090304" pitchFamily="18" charset="0"/>
              <a:cs typeface="Times New Roman" panose="02020503050405090304" pitchFamily="18" charset="0"/>
              <a:sym typeface="+mn-ea"/>
            </a:endParaRPr>
          </a:p>
          <a:p>
            <a:pPr algn="ctr">
              <a:defRPr/>
            </a:pPr>
            <a:r>
              <a:rPr lang="en-US" sz="1800" b="1" dirty="0" err="1">
                <a:solidFill>
                  <a:srgbClr val="FF0000"/>
                </a:solidFill>
                <a:latin typeface="Times New Roman" panose="02020503050405090304" pitchFamily="18" charset="0"/>
                <a:cs typeface="Times New Roman" panose="02020503050405090304" pitchFamily="18" charset="0"/>
                <a:sym typeface="+mn-ea"/>
              </a:rPr>
              <a:t>Dr.R.Ravinder</a:t>
            </a:r>
            <a:r>
              <a:rPr lang="en-US" sz="1800" b="1" dirty="0">
                <a:solidFill>
                  <a:srgbClr val="FF0000"/>
                </a:solidFill>
                <a:latin typeface="Times New Roman" panose="02020503050405090304" pitchFamily="18" charset="0"/>
                <a:cs typeface="Times New Roman" panose="02020503050405090304" pitchFamily="18" charset="0"/>
                <a:sym typeface="+mn-ea"/>
              </a:rPr>
              <a:t> Reddy</a:t>
            </a:r>
            <a:endParaRPr lang="en-US" sz="1800" b="1" dirty="0">
              <a:solidFill>
                <a:srgbClr val="FF0000"/>
              </a:solidFill>
              <a:latin typeface="Times New Roman" panose="02020503050405090304" pitchFamily="18" charset="0"/>
              <a:cs typeface="Times New Roman" panose="02020503050405090304" pitchFamily="18" charset="0"/>
            </a:endParaRPr>
          </a:p>
          <a:p>
            <a:pPr algn="ctr">
              <a:defRPr/>
            </a:pPr>
            <a:r>
              <a:rPr lang="en-US" sz="1800" b="1" dirty="0">
                <a:solidFill>
                  <a:srgbClr val="FF0000"/>
                </a:solidFill>
                <a:latin typeface="Times New Roman" panose="02020503050405090304" pitchFamily="18" charset="0"/>
                <a:cs typeface="Times New Roman" panose="02020503050405090304" pitchFamily="18" charset="0"/>
                <a:sym typeface="+mn-ea"/>
              </a:rPr>
              <a:t>Professor</a:t>
            </a:r>
            <a:endParaRPr sz="1800" b="1">
              <a:solidFill>
                <a:srgbClr val="FF0000"/>
              </a:solidFill>
            </a:endParaRPr>
          </a:p>
        </p:txBody>
      </p:sp>
      <p:pic>
        <p:nvPicPr>
          <p:cNvPr id="55" name="Google Shape;55;p13"/>
          <p:cNvPicPr preferRelativeResize="0"/>
          <p:nvPr/>
        </p:nvPicPr>
        <p:blipFill>
          <a:blip r:embed="rId3"/>
          <a:stretch>
            <a:fillRect/>
          </a:stretch>
        </p:blipFill>
        <p:spPr>
          <a:xfrm>
            <a:off x="0" y="4"/>
            <a:ext cx="9144000" cy="1303493"/>
          </a:xfrm>
          <a:prstGeom prst="rect">
            <a:avLst/>
          </a:prstGeom>
          <a:noFill/>
          <a:ln>
            <a:noFill/>
          </a:ln>
        </p:spPr>
      </p:pic>
      <p:sp>
        <p:nvSpPr>
          <p:cNvPr id="56" name="Google Shape;56;p13"/>
          <p:cNvSpPr txBox="1"/>
          <p:nvPr/>
        </p:nvSpPr>
        <p:spPr>
          <a:xfrm>
            <a:off x="2476050" y="4770075"/>
            <a:ext cx="4191900" cy="30416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800" dirty="0" err="1">
                <a:solidFill>
                  <a:schemeClr val="tx2">
                    <a:lumMod val="50000"/>
                  </a:schemeClr>
                </a:solidFill>
                <a:latin typeface="Times New Roman" panose="02020503050405090304" pitchFamily="18" charset="0"/>
                <a:cs typeface="Times New Roman" panose="02020503050405090304" pitchFamily="18" charset="0"/>
                <a:sym typeface="+mn-ea"/>
              </a:rPr>
              <a:t>ChargeX</a:t>
            </a:r>
            <a:r>
              <a:rPr lang="en-US" sz="800" dirty="0">
                <a:solidFill>
                  <a:schemeClr val="tx2">
                    <a:lumMod val="50000"/>
                  </a:schemeClr>
                </a:solidFill>
                <a:latin typeface="Times New Roman" panose="02020503050405090304" pitchFamily="18" charset="0"/>
                <a:cs typeface="Times New Roman" panose="02020503050405090304" pitchFamily="18" charset="0"/>
                <a:sym typeface="+mn-ea"/>
              </a:rPr>
              <a:t>: Intelligent EV Charging Station Locator with Slot Booking and Smart Assistance</a:t>
            </a:r>
            <a:endParaRPr lang="en-US" sz="800" dirty="0">
              <a:solidFill>
                <a:schemeClr val="tx2">
                  <a:lumMod val="50000"/>
                </a:schemeClr>
              </a:solidFill>
              <a:latin typeface="Times New Roman" panose="02020503050405090304" pitchFamily="18" charset="0"/>
              <a:ea typeface="Calibri"/>
              <a:cs typeface="Times New Roman" panose="02020503050405090304" pitchFamily="18" charset="0"/>
              <a:sym typeface="+mn-ea"/>
            </a:endParaRPr>
          </a:p>
        </p:txBody>
      </p:sp>
      <p:sp>
        <p:nvSpPr>
          <p:cNvPr id="57" name="Google Shape;57;p13"/>
          <p:cNvSpPr txBox="1"/>
          <p:nvPr/>
        </p:nvSpPr>
        <p:spPr>
          <a:xfrm>
            <a:off x="8791275" y="4770075"/>
            <a:ext cx="2928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a:t>
            </a:r>
            <a:endParaRPr sz="500">
              <a:solidFill>
                <a:srgbClr val="666666"/>
              </a:solidFill>
              <a:latin typeface="Calibri"/>
              <a:ea typeface="Calibri"/>
              <a:cs typeface="Calibri"/>
              <a:sym typeface="Calibri"/>
            </a:endParaRPr>
          </a:p>
        </p:txBody>
      </p:sp>
      <p:sp>
        <p:nvSpPr>
          <p:cNvPr id="58" name="Google Shape;58;p13"/>
          <p:cNvSpPr txBox="1"/>
          <p:nvPr/>
        </p:nvSpPr>
        <p:spPr>
          <a:xfrm>
            <a:off x="0" y="4835700"/>
            <a:ext cx="1638000" cy="30416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a:t>
            </a:r>
            <a:r>
              <a:rPr lang="en-US" altLang="en-GB" sz="800">
                <a:solidFill>
                  <a:srgbClr val="666666"/>
                </a:solidFill>
              </a:rPr>
              <a:t>8</a:t>
            </a:r>
            <a:r>
              <a:rPr lang="en-GB" sz="800">
                <a:solidFill>
                  <a:srgbClr val="666666"/>
                </a:solidFill>
              </a:rPr>
              <a:t>/09/2025</a:t>
            </a:r>
            <a:endParaRPr sz="500">
              <a:solidFill>
                <a:srgbClr val="66666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75" y="403860"/>
            <a:ext cx="9144000" cy="572700"/>
          </a:xfrm>
          <a:prstGeom prst="rect">
            <a:avLst/>
          </a:prstGeom>
          <a:noFill/>
          <a:ln>
            <a:noFill/>
          </a:ln>
        </p:spPr>
        <p:txBody>
          <a:bodyPr spcFirstLastPara="1" wrap="square" lIns="91425" tIns="91425" rIns="91425" bIns="91425" anchor="t" anchorCtr="0">
            <a:normAutofit fontScale="97500" lnSpcReduction="10000"/>
          </a:bodyPr>
          <a:lstStyle/>
          <a:p>
            <a:pPr marL="0" lvl="0" indent="0" algn="ctr" rtl="0">
              <a:spcBef>
                <a:spcPts val="0"/>
              </a:spcBef>
              <a:spcAft>
                <a:spcPts val="0"/>
              </a:spcAft>
              <a:buNone/>
            </a:pPr>
            <a:r>
              <a:rPr lang="en-GB" sz="2800" b="1">
                <a:solidFill>
                  <a:srgbClr val="000000"/>
                </a:solidFill>
                <a:latin typeface="Times New Roman Bold" panose="02020503050405090304" charset="0"/>
                <a:cs typeface="Times New Roman Bold" panose="02020503050405090304" charset="0"/>
              </a:rPr>
              <a:t>Problem Statement</a:t>
            </a:r>
            <a:endParaRPr sz="2800" b="1">
              <a:solidFill>
                <a:srgbClr val="000000"/>
              </a:solidFill>
              <a:latin typeface="Times New Roman Bold" panose="02020503050405090304" charset="0"/>
              <a:cs typeface="Times New Roman Bold" panose="02020503050405090304" charset="0"/>
            </a:endParaRPr>
          </a:p>
        </p:txBody>
      </p:sp>
      <p:sp>
        <p:nvSpPr>
          <p:cNvPr id="64" name="Google Shape;64;p14"/>
          <p:cNvSpPr txBox="1"/>
          <p:nvPr/>
        </p:nvSpPr>
        <p:spPr>
          <a:xfrm>
            <a:off x="656590" y="1256030"/>
            <a:ext cx="7955280" cy="3416300"/>
          </a:xfrm>
          <a:prstGeom prst="rect">
            <a:avLst/>
          </a:prstGeom>
          <a:noFill/>
          <a:ln>
            <a:noFill/>
          </a:ln>
        </p:spPr>
        <p:txBody>
          <a:bodyPr spcFirstLastPara="1" wrap="square" lIns="91425" tIns="91425" rIns="91425" bIns="91425" anchor="t" anchorCtr="0">
            <a:noAutofit/>
          </a:bodyPr>
          <a:lstStyle/>
          <a:p>
            <a:pPr marL="0" lvl="0" indent="0" algn="just" rtl="0">
              <a:lnSpc>
                <a:spcPct val="105000"/>
              </a:lnSpc>
              <a:spcBef>
                <a:spcPts val="0"/>
              </a:spcBef>
              <a:spcAft>
                <a:spcPts val="1200"/>
              </a:spcAft>
              <a:buNone/>
            </a:pPr>
            <a:r>
              <a:rPr lang="en-US" altLang="en-US" sz="1800" dirty="0">
                <a:solidFill>
                  <a:schemeClr val="tx1"/>
                </a:solidFill>
                <a:latin typeface="Times New Roman Regular" panose="02020503050405090304" charset="0"/>
                <a:cs typeface="Times New Roman Regular" panose="02020503050405090304" charset="0"/>
              </a:rPr>
              <a:t>EV users face range anxiety and unexpected delays as existing apps only show nearby stations without checking battery reach or predicting wait times. Most depend on internet connectivity, lacking offline support.</a:t>
            </a:r>
          </a:p>
          <a:p>
            <a:pPr marL="0" lvl="0" indent="0" algn="just" rtl="0">
              <a:lnSpc>
                <a:spcPct val="105000"/>
              </a:lnSpc>
              <a:spcBef>
                <a:spcPts val="0"/>
              </a:spcBef>
              <a:spcAft>
                <a:spcPts val="1200"/>
              </a:spcAft>
              <a:buNone/>
            </a:pPr>
            <a:r>
              <a:rPr lang="en-US" altLang="en-US" sz="1800" dirty="0" err="1">
                <a:solidFill>
                  <a:schemeClr val="tx1"/>
                </a:solidFill>
                <a:latin typeface="Times New Roman Regular" panose="02020503050405090304" charset="0"/>
                <a:cs typeface="Times New Roman Regular" panose="02020503050405090304" charset="0"/>
              </a:rPr>
              <a:t>ChargeX</a:t>
            </a:r>
            <a:r>
              <a:rPr lang="en-US" altLang="en-US" sz="1800" dirty="0">
                <a:solidFill>
                  <a:schemeClr val="tx1"/>
                </a:solidFill>
                <a:latin typeface="Times New Roman Regular" panose="02020503050405090304" charset="0"/>
                <a:cs typeface="Times New Roman Regular" panose="02020503050405090304" charset="0"/>
              </a:rPr>
              <a:t> solves this with range-based filtering, wait predictions, personalized recommendations, and offline verification for seamless usability.</a:t>
            </a:r>
          </a:p>
        </p:txBody>
      </p:sp>
      <p:pic>
        <p:nvPicPr>
          <p:cNvPr id="65" name="Google Shape;65;p14"/>
          <p:cNvPicPr preferRelativeResize="0"/>
          <p:nvPr/>
        </p:nvPicPr>
        <p:blipFill>
          <a:blip r:embed="rId3"/>
          <a:stretch>
            <a:fillRect/>
          </a:stretch>
        </p:blipFill>
        <p:spPr>
          <a:xfrm>
            <a:off x="8461488" y="175364"/>
            <a:ext cx="532200" cy="695700"/>
          </a:xfrm>
          <a:prstGeom prst="rect">
            <a:avLst/>
          </a:prstGeom>
          <a:noFill/>
          <a:ln>
            <a:noFill/>
          </a:ln>
        </p:spPr>
      </p:pic>
      <p:sp>
        <p:nvSpPr>
          <p:cNvPr id="67" name="Google Shape;67;p14"/>
          <p:cNvSpPr txBox="1"/>
          <p:nvPr/>
        </p:nvSpPr>
        <p:spPr>
          <a:xfrm>
            <a:off x="8791275" y="4770075"/>
            <a:ext cx="2928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2</a:t>
            </a:r>
            <a:endParaRPr sz="500">
              <a:solidFill>
                <a:srgbClr val="666666"/>
              </a:solidFill>
              <a:latin typeface="Calibri"/>
              <a:ea typeface="Calibri"/>
              <a:cs typeface="Calibri"/>
              <a:sym typeface="Calibri"/>
            </a:endParaRPr>
          </a:p>
        </p:txBody>
      </p:sp>
      <p:sp>
        <p:nvSpPr>
          <p:cNvPr id="68" name="Google Shape;68;p14"/>
          <p:cNvSpPr txBox="1"/>
          <p:nvPr/>
        </p:nvSpPr>
        <p:spPr>
          <a:xfrm>
            <a:off x="0" y="4835700"/>
            <a:ext cx="1638000" cy="30416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a:t>
            </a:r>
            <a:r>
              <a:rPr lang="en-US" altLang="en-GB" sz="800">
                <a:solidFill>
                  <a:srgbClr val="666666"/>
                </a:solidFill>
              </a:rPr>
              <a:t>8</a:t>
            </a:r>
            <a:r>
              <a:rPr lang="en-GB" sz="800">
                <a:solidFill>
                  <a:srgbClr val="666666"/>
                </a:solidFill>
              </a:rPr>
              <a:t>/09/2025</a:t>
            </a:r>
            <a:endParaRPr sz="500">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a:latin typeface="Times New Roman Bold" panose="02020503050405090304" charset="0"/>
                <a:cs typeface="Times New Roman Bold" panose="02020503050405090304" charset="0"/>
              </a:rPr>
              <a:t>Objectives</a:t>
            </a:r>
          </a:p>
        </p:txBody>
      </p:sp>
      <p:sp>
        <p:nvSpPr>
          <p:cNvPr id="3" name="Text Placeholder 2"/>
          <p:cNvSpPr>
            <a:spLocks noGrp="1"/>
          </p:cNvSpPr>
          <p:nvPr>
            <p:ph type="body" idx="1"/>
          </p:nvPr>
        </p:nvSpPr>
        <p:spPr/>
        <p:txBody>
          <a:bodyPr>
            <a:normAutofit/>
          </a:bodyPr>
          <a:lstStyle/>
          <a:p>
            <a:pPr marL="114300" indent="0">
              <a:buNone/>
            </a:pPr>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Range-Based Filtering: Show only stations reachable with current battery level.</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Dynamic Wait Time Prediction: Predict waiting time at busy charging stations.</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Offline Verification: Allow scanning and verifying stations without internet.</a:t>
            </a:r>
          </a:p>
          <a:p>
            <a:pPr marL="114300" indent="0">
              <a:buNone/>
            </a:pPr>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Personalized Recommendations: Suggest optimal stations based on user preferences.</a:t>
            </a:r>
          </a:p>
        </p:txBody>
      </p:sp>
      <p:pic>
        <p:nvPicPr>
          <p:cNvPr id="73" name="Google Shape;73;p15"/>
          <p:cNvPicPr preferRelativeResize="0"/>
          <p:nvPr/>
        </p:nvPicPr>
        <p:blipFill>
          <a:blip r:embed="rId2"/>
          <a:stretch>
            <a:fillRect/>
          </a:stretch>
        </p:blipFill>
        <p:spPr>
          <a:xfrm>
            <a:off x="8611800" y="0"/>
            <a:ext cx="532200" cy="69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5"/>
          <p:cNvPicPr preferRelativeResize="0"/>
          <p:nvPr/>
        </p:nvPicPr>
        <p:blipFill>
          <a:blip r:embed="rId3"/>
          <a:stretch>
            <a:fillRect/>
          </a:stretch>
        </p:blipFill>
        <p:spPr>
          <a:xfrm>
            <a:off x="8611800" y="0"/>
            <a:ext cx="532200" cy="695700"/>
          </a:xfrm>
          <a:prstGeom prst="rect">
            <a:avLst/>
          </a:prstGeom>
          <a:noFill/>
          <a:ln>
            <a:noFill/>
          </a:ln>
        </p:spPr>
      </p:pic>
      <p:sp>
        <p:nvSpPr>
          <p:cNvPr id="74" name="Google Shape;74;p15"/>
          <p:cNvSpPr txBox="1"/>
          <p:nvPr/>
        </p:nvSpPr>
        <p:spPr>
          <a:xfrm>
            <a:off x="-235" y="241300"/>
            <a:ext cx="9144000" cy="695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500" b="1">
                <a:solidFill>
                  <a:srgbClr val="000000"/>
                </a:solidFill>
                <a:latin typeface="Times New Roman Bold" panose="02020503050405090304" charset="0"/>
                <a:cs typeface="Times New Roman Bold" panose="02020503050405090304" charset="0"/>
              </a:rPr>
              <a:t>Introduction</a:t>
            </a:r>
            <a:endParaRPr sz="2500" b="1">
              <a:solidFill>
                <a:srgbClr val="000000"/>
              </a:solidFill>
              <a:latin typeface="Times New Roman Bold" panose="02020503050405090304" charset="0"/>
              <a:cs typeface="Times New Roman Bold" panose="02020503050405090304" charset="0"/>
            </a:endParaRPr>
          </a:p>
        </p:txBody>
      </p:sp>
      <p:sp>
        <p:nvSpPr>
          <p:cNvPr id="75" name="Google Shape;75;p15"/>
          <p:cNvSpPr txBox="1"/>
          <p:nvPr/>
        </p:nvSpPr>
        <p:spPr>
          <a:xfrm>
            <a:off x="226695" y="1236345"/>
            <a:ext cx="8658225" cy="3134360"/>
          </a:xfrm>
          <a:prstGeom prst="rect">
            <a:avLst/>
          </a:prstGeom>
          <a:noFill/>
          <a:ln>
            <a:noFill/>
          </a:ln>
        </p:spPr>
        <p:txBody>
          <a:bodyPr spcFirstLastPara="1" wrap="square" lIns="91425" tIns="91425" rIns="91425" bIns="91425" anchor="t" anchorCtr="0">
            <a:noAutofit/>
          </a:bodyPr>
          <a:lstStyle/>
          <a:p>
            <a:pPr marL="412750" lvl="0" indent="-285750" algn="just" rtl="0">
              <a:lnSpc>
                <a:spcPct val="85000"/>
              </a:lnSpc>
              <a:spcBef>
                <a:spcPts val="0"/>
              </a:spcBef>
              <a:spcAft>
                <a:spcPts val="0"/>
              </a:spcAft>
              <a:buSzPts val="1600"/>
              <a:buFont typeface="Arial" panose="020B0604020202090204" pitchFamily="34" charset="0"/>
              <a:buChar char="•"/>
            </a:pPr>
            <a:r>
              <a:rPr lang="en-US" altLang="en-US" sz="1800">
                <a:solidFill>
                  <a:srgbClr val="000000"/>
                </a:solidFill>
                <a:latin typeface="Times New Roman Regular" panose="02020503050405090304" charset="0"/>
                <a:cs typeface="Times New Roman Regular" panose="02020503050405090304" charset="0"/>
              </a:rPr>
              <a:t>EV adoption faces issues like range anxiety, station availability, and network dependency.</a:t>
            </a:r>
          </a:p>
          <a:p>
            <a:pPr marL="412750" lvl="0" indent="-285750" algn="just" rtl="0">
              <a:lnSpc>
                <a:spcPct val="85000"/>
              </a:lnSpc>
              <a:spcBef>
                <a:spcPts val="0"/>
              </a:spcBef>
              <a:spcAft>
                <a:spcPts val="0"/>
              </a:spcAft>
              <a:buSzPts val="1600"/>
              <a:buFont typeface="Arial" panose="020B0604020202090204" pitchFamily="34" charset="0"/>
              <a:buChar char="•"/>
            </a:pPr>
            <a:endParaRPr lang="en-US" altLang="en-US" sz="1800">
              <a:solidFill>
                <a:srgbClr val="000000"/>
              </a:solidFill>
              <a:latin typeface="Times New Roman Regular" panose="02020503050405090304" charset="0"/>
              <a:cs typeface="Times New Roman Regular" panose="02020503050405090304" charset="0"/>
            </a:endParaRPr>
          </a:p>
          <a:p>
            <a:pPr marL="412750" lvl="0" indent="-285750" algn="just" rtl="0">
              <a:lnSpc>
                <a:spcPct val="85000"/>
              </a:lnSpc>
              <a:spcBef>
                <a:spcPts val="0"/>
              </a:spcBef>
              <a:spcAft>
                <a:spcPts val="0"/>
              </a:spcAft>
              <a:buSzPts val="1600"/>
              <a:buFont typeface="Arial" panose="020B0604020202090204" pitchFamily="34" charset="0"/>
              <a:buChar char="•"/>
            </a:pPr>
            <a:r>
              <a:rPr lang="en-US" altLang="en-US" sz="1800">
                <a:solidFill>
                  <a:srgbClr val="000000"/>
                </a:solidFill>
                <a:latin typeface="Times New Roman Regular" panose="02020503050405090304" charset="0"/>
                <a:cs typeface="Times New Roman Regular" panose="02020503050405090304" charset="0"/>
              </a:rPr>
              <a:t>Current apps show nearby stations but lack range validation and wait time prediction.</a:t>
            </a:r>
          </a:p>
          <a:p>
            <a:pPr marL="412750" lvl="0" indent="-285750" algn="just" rtl="0">
              <a:lnSpc>
                <a:spcPct val="85000"/>
              </a:lnSpc>
              <a:spcBef>
                <a:spcPts val="0"/>
              </a:spcBef>
              <a:spcAft>
                <a:spcPts val="0"/>
              </a:spcAft>
              <a:buSzPts val="1600"/>
              <a:buFont typeface="Arial" panose="020B0604020202090204" pitchFamily="34" charset="0"/>
              <a:buChar char="•"/>
            </a:pPr>
            <a:endParaRPr lang="en-US" altLang="en-US" sz="1800">
              <a:solidFill>
                <a:srgbClr val="000000"/>
              </a:solidFill>
              <a:latin typeface="Times New Roman Regular" panose="02020503050405090304" charset="0"/>
              <a:cs typeface="Times New Roman Regular" panose="02020503050405090304" charset="0"/>
            </a:endParaRPr>
          </a:p>
          <a:p>
            <a:pPr marL="412750" lvl="0" indent="-285750" algn="just" rtl="0">
              <a:lnSpc>
                <a:spcPct val="85000"/>
              </a:lnSpc>
              <a:spcBef>
                <a:spcPts val="0"/>
              </a:spcBef>
              <a:spcAft>
                <a:spcPts val="0"/>
              </a:spcAft>
              <a:buSzPts val="1600"/>
              <a:buFont typeface="Arial" panose="020B0604020202090204" pitchFamily="34" charset="0"/>
              <a:buChar char="•"/>
            </a:pPr>
            <a:r>
              <a:rPr lang="en-US" altLang="en-US" sz="1800">
                <a:solidFill>
                  <a:srgbClr val="000000"/>
                </a:solidFill>
                <a:latin typeface="Times New Roman Regular" panose="02020503050405090304" charset="0"/>
                <a:cs typeface="Times New Roman Regular" panose="02020503050405090304" charset="0"/>
              </a:rPr>
              <a:t>Dependence on internet connectivity limits use in low-network areas.</a:t>
            </a:r>
          </a:p>
          <a:p>
            <a:pPr marL="412750" lvl="0" indent="-285750" algn="just" rtl="0">
              <a:lnSpc>
                <a:spcPct val="85000"/>
              </a:lnSpc>
              <a:spcBef>
                <a:spcPts val="0"/>
              </a:spcBef>
              <a:spcAft>
                <a:spcPts val="0"/>
              </a:spcAft>
              <a:buSzPts val="1600"/>
              <a:buFont typeface="Arial" panose="020B0604020202090204" pitchFamily="34" charset="0"/>
              <a:buChar char="•"/>
            </a:pPr>
            <a:endParaRPr lang="en-US" altLang="en-US" sz="1800">
              <a:solidFill>
                <a:srgbClr val="000000"/>
              </a:solidFill>
              <a:latin typeface="Times New Roman Regular" panose="02020503050405090304" charset="0"/>
              <a:cs typeface="Times New Roman Regular" panose="02020503050405090304" charset="0"/>
            </a:endParaRPr>
          </a:p>
          <a:p>
            <a:pPr marL="412750" lvl="0" indent="-285750" algn="just" rtl="0">
              <a:lnSpc>
                <a:spcPct val="85000"/>
              </a:lnSpc>
              <a:spcBef>
                <a:spcPts val="0"/>
              </a:spcBef>
              <a:spcAft>
                <a:spcPts val="0"/>
              </a:spcAft>
              <a:buSzPts val="1600"/>
              <a:buFont typeface="Arial" panose="020B0604020202090204" pitchFamily="34" charset="0"/>
              <a:buChar char="•"/>
            </a:pPr>
            <a:r>
              <a:rPr lang="en-US" altLang="en-US" sz="1800">
                <a:solidFill>
                  <a:srgbClr val="000000"/>
                </a:solidFill>
                <a:latin typeface="Times New Roman Regular" panose="02020503050405090304" charset="0"/>
                <a:cs typeface="Times New Roman Regular" panose="02020503050405090304" charset="0"/>
              </a:rPr>
              <a:t>ChargeX solves this with range-based filtering, dynamic wait predictions, offline slot booking, and chatbot support.</a:t>
            </a:r>
          </a:p>
        </p:txBody>
      </p:sp>
      <p:sp>
        <p:nvSpPr>
          <p:cNvPr id="77" name="Google Shape;77;p15"/>
          <p:cNvSpPr txBox="1"/>
          <p:nvPr/>
        </p:nvSpPr>
        <p:spPr>
          <a:xfrm>
            <a:off x="8791275" y="4770075"/>
            <a:ext cx="2928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3</a:t>
            </a:r>
            <a:endParaRPr sz="500">
              <a:solidFill>
                <a:srgbClr val="666666"/>
              </a:solidFill>
              <a:latin typeface="Calibri"/>
              <a:ea typeface="Calibri"/>
              <a:cs typeface="Calibri"/>
              <a:sym typeface="Calibri"/>
            </a:endParaRPr>
          </a:p>
        </p:txBody>
      </p:sp>
      <p:sp>
        <p:nvSpPr>
          <p:cNvPr id="78" name="Google Shape;78;p15"/>
          <p:cNvSpPr txBox="1"/>
          <p:nvPr/>
        </p:nvSpPr>
        <p:spPr>
          <a:xfrm>
            <a:off x="0" y="4835700"/>
            <a:ext cx="1638000" cy="30416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a:t>
            </a:r>
            <a:r>
              <a:rPr lang="en-US" altLang="en-GB" sz="800">
                <a:solidFill>
                  <a:srgbClr val="666666"/>
                </a:solidFill>
              </a:rPr>
              <a:t>8</a:t>
            </a:r>
            <a:r>
              <a:rPr lang="en-GB" sz="800">
                <a:solidFill>
                  <a:srgbClr val="666666"/>
                </a:solidFill>
              </a:rPr>
              <a:t>/09/2025</a:t>
            </a:r>
            <a:endParaRPr sz="500">
              <a:solidFill>
                <a:srgbClr val="66666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0008" y="90330"/>
            <a:ext cx="5915025" cy="469106"/>
          </a:xfrm>
        </p:spPr>
        <p:txBody>
          <a:bodyPr>
            <a:normAutofit fontScale="90000"/>
          </a:bodyPr>
          <a:lstStyle/>
          <a:p>
            <a:pPr algn="ctr"/>
            <a:r>
              <a:rPr lang="en-IN" b="1" dirty="0">
                <a:latin typeface="Times New Roman Bold" panose="02020503050405090304" charset="0"/>
                <a:cs typeface="Times New Roman Bold" panose="02020503050405090304" charset="0"/>
              </a:rPr>
              <a:t>Literature Review</a:t>
            </a:r>
          </a:p>
        </p:txBody>
      </p:sp>
      <p:sp>
        <p:nvSpPr>
          <p:cNvPr id="6" name="Slide Number Placeholder 5"/>
          <p:cNvSpPr>
            <a:spLocks noGrp="1"/>
          </p:cNvSpPr>
          <p:nvPr>
            <p:ph type="sldNum" sz="quarter" idx="12"/>
          </p:nvPr>
        </p:nvSpPr>
        <p:spPr/>
        <p:txBody>
          <a:bodyPr/>
          <a:lstStyle/>
          <a:p>
            <a:fld id="{9BC567C3-B2D5-46D6-B103-873CDC8DC37A}" type="slidenum">
              <a:rPr lang="en-US" sz="750" smtClean="0"/>
              <a:t>5</a:t>
            </a:fld>
            <a:endParaRPr lang="en-US" sz="750"/>
          </a:p>
        </p:txBody>
      </p:sp>
      <p:pic>
        <p:nvPicPr>
          <p:cNvPr id="7" name="Picture 6"/>
          <p:cNvPicPr>
            <a:picLocks noChangeAspect="1"/>
          </p:cNvPicPr>
          <p:nvPr/>
        </p:nvPicPr>
        <p:blipFill>
          <a:blip r:embed="rId2"/>
          <a:stretch>
            <a:fillRect/>
          </a:stretch>
        </p:blipFill>
        <p:spPr>
          <a:xfrm>
            <a:off x="8321454" y="250"/>
            <a:ext cx="699577" cy="649280"/>
          </a:xfrm>
          <a:prstGeom prst="rect">
            <a:avLst/>
          </a:prstGeom>
        </p:spPr>
      </p:pic>
      <p:graphicFrame>
        <p:nvGraphicFramePr>
          <p:cNvPr id="14" name="Content Placeholder 13"/>
          <p:cNvGraphicFramePr>
            <a:graphicFrameLocks noGrp="1"/>
          </p:cNvGraphicFramePr>
          <p:nvPr>
            <p:ph idx="1"/>
            <p:extLst>
              <p:ext uri="{D42A27DB-BD31-4B8C-83A1-F6EECF244321}">
                <p14:modId xmlns:p14="http://schemas.microsoft.com/office/powerpoint/2010/main" val="534943212"/>
              </p:ext>
            </p:extLst>
          </p:nvPr>
        </p:nvGraphicFramePr>
        <p:xfrm>
          <a:off x="463463" y="811530"/>
          <a:ext cx="8008072" cy="3919855"/>
        </p:xfrm>
        <a:graphic>
          <a:graphicData uri="http://schemas.openxmlformats.org/drawingml/2006/table">
            <a:tbl>
              <a:tblPr firstRow="1" bandRow="1">
                <a:tableStyleId>{5940675A-B579-460E-94D1-54222C63F5DA}</a:tableStyleId>
              </a:tblPr>
              <a:tblGrid>
                <a:gridCol w="527137">
                  <a:extLst>
                    <a:ext uri="{9D8B030D-6E8A-4147-A177-3AD203B41FA5}">
                      <a16:colId xmlns:a16="http://schemas.microsoft.com/office/drawing/2014/main" val="20000"/>
                    </a:ext>
                  </a:extLst>
                </a:gridCol>
                <a:gridCol w="1778635">
                  <a:extLst>
                    <a:ext uri="{9D8B030D-6E8A-4147-A177-3AD203B41FA5}">
                      <a16:colId xmlns:a16="http://schemas.microsoft.com/office/drawing/2014/main" val="20001"/>
                    </a:ext>
                  </a:extLst>
                </a:gridCol>
                <a:gridCol w="1932940">
                  <a:extLst>
                    <a:ext uri="{9D8B030D-6E8A-4147-A177-3AD203B41FA5}">
                      <a16:colId xmlns:a16="http://schemas.microsoft.com/office/drawing/2014/main" val="20002"/>
                    </a:ext>
                  </a:extLst>
                </a:gridCol>
                <a:gridCol w="21691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270510">
                <a:tc>
                  <a:txBody>
                    <a:bodyPr/>
                    <a:lstStyle/>
                    <a:p>
                      <a:pPr algn="ctr"/>
                      <a:r>
                        <a:rPr lang="en-IN" sz="1050" dirty="0">
                          <a:latin typeface="Times New Roman" panose="02020503050405090304" pitchFamily="18" charset="0"/>
                          <a:cs typeface="Times New Roman" panose="02020503050405090304" pitchFamily="18" charset="0"/>
                        </a:rPr>
                        <a:t>Sno</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Title</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Author</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Methodology</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Gaps analysed</a:t>
                      </a:r>
                    </a:p>
                  </a:txBody>
                  <a:tcPr marL="68580" marR="68580" marT="34290" marB="34290"/>
                </a:tc>
                <a:extLst>
                  <a:ext uri="{0D108BD9-81ED-4DB2-BD59-A6C34878D82A}">
                    <a16:rowId xmlns:a16="http://schemas.microsoft.com/office/drawing/2014/main" val="10000"/>
                  </a:ext>
                </a:extLst>
              </a:tr>
              <a:tr h="1871345">
                <a:tc>
                  <a:txBody>
                    <a:bodyPr/>
                    <a:lstStyle/>
                    <a:p>
                      <a:r>
                        <a:rPr lang="en-IN" sz="940" dirty="0">
                          <a:latin typeface="Times New Roman" panose="02020503050405090304" pitchFamily="18" charset="0"/>
                          <a:cs typeface="Times New Roman" panose="02020503050405090304" pitchFamily="18" charset="0"/>
                        </a:rPr>
                        <a:t>1.</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hlinkClick r:id="rId3"/>
                        </a:rPr>
                        <a:t>Dynamics of an EV Charging Station considering Queuing Theory (Transportation Research Procedia, 2025)</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IN" sz="1000" dirty="0">
                          <a:latin typeface="Times New Roman" panose="02020503050405090304" pitchFamily="18" charset="0"/>
                          <a:cs typeface="Times New Roman" panose="02020503050405090304" pitchFamily="18" charset="0"/>
                        </a:rPr>
                        <a:t>Hasan Masrur, Ali T. Al-Awami (2025)</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Used queueing theory to mathematically analyze how EVs arrive and wait at a single charging station. Considered random (non-uniform) arrivals, exponential charging times, and multiple chargers to predict waiting times and service capacity.</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Focuses only on a single station, no advance reservations, no dynamic waitlist/cancellation handling, no network-level station coordination, and lacks practical user-side features like slot booking, mobile integration, or offline scanner/verification support.</a:t>
                      </a:r>
                      <a:endParaRPr lang="en-IN" sz="1000" dirty="0">
                        <a:latin typeface="Times New Roman" panose="02020503050405090304" pitchFamily="18" charset="0"/>
                        <a:cs typeface="Times New Roman" panose="02020503050405090304" pitchFamily="18" charset="0"/>
                      </a:endParaRPr>
                    </a:p>
                  </a:txBody>
                  <a:tcPr marL="68580" marR="68580" marT="34290" marB="34290"/>
                </a:tc>
                <a:extLst>
                  <a:ext uri="{0D108BD9-81ED-4DB2-BD59-A6C34878D82A}">
                    <a16:rowId xmlns:a16="http://schemas.microsoft.com/office/drawing/2014/main" val="10001"/>
                  </a:ext>
                </a:extLst>
              </a:tr>
              <a:tr h="1778000">
                <a:tc>
                  <a:txBody>
                    <a:bodyPr/>
                    <a:lstStyle/>
                    <a:p>
                      <a:r>
                        <a:rPr lang="en-IN" sz="940" dirty="0">
                          <a:latin typeface="Times New Roman" panose="02020503050405090304" pitchFamily="18" charset="0"/>
                          <a:cs typeface="Times New Roman" panose="02020503050405090304" pitchFamily="18" charset="0"/>
                        </a:rPr>
                        <a:t>2.</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hlinkClick r:id="rId4"/>
                        </a:rPr>
                        <a:t>Planning of EV charging stations: An integrated deep learning and queueing theory approach (Transportation Research Part E, 2024)</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fr-FR" sz="1000" dirty="0">
                          <a:latin typeface="Times New Roman" panose="02020503050405090304" pitchFamily="18" charset="0"/>
                          <a:cs typeface="Times New Roman" panose="02020503050405090304" pitchFamily="18" charset="0"/>
                        </a:rPr>
                        <a:t>H. </a:t>
                      </a:r>
                      <a:r>
                        <a:rPr lang="fr-FR" sz="1000" dirty="0" err="1">
                          <a:latin typeface="Times New Roman" panose="02020503050405090304" pitchFamily="18" charset="0"/>
                          <a:cs typeface="Times New Roman" panose="02020503050405090304" pitchFamily="18" charset="0"/>
                        </a:rPr>
                        <a:t>Pourvaziri</a:t>
                      </a:r>
                      <a:r>
                        <a:rPr lang="fr-FR" sz="1000" dirty="0">
                          <a:latin typeface="Times New Roman" panose="02020503050405090304" pitchFamily="18" charset="0"/>
                          <a:cs typeface="Times New Roman" panose="02020503050405090304" pitchFamily="18" charset="0"/>
                        </a:rPr>
                        <a:t> et al. (2024)</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They used AI to guess how many cars would arrive and how long they’d wait, then applied an optimization method to decide the best places to build </a:t>
                      </a:r>
                      <a:r>
                        <a:rPr lang="en-US" sz="1000" dirty="0" err="1">
                          <a:latin typeface="Times New Roman" panose="02020503050405090304" pitchFamily="18" charset="0"/>
                          <a:cs typeface="Times New Roman" panose="02020503050405090304" pitchFamily="18" charset="0"/>
                        </a:rPr>
                        <a:t>stations.They</a:t>
                      </a:r>
                      <a:r>
                        <a:rPr lang="en-US" sz="1000" dirty="0">
                          <a:latin typeface="Times New Roman" panose="02020503050405090304" pitchFamily="18" charset="0"/>
                          <a:cs typeface="Times New Roman" panose="02020503050405090304" pitchFamily="18" charset="0"/>
                        </a:rPr>
                        <a:t> compared different ways of serving cars in line (first-come-first-serve vs grouped lines) and tested how changes in arrival or charging times affect the results.”</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Focus is planning (where/how many chargers) rather than operational booking; no explicit reservations or waitlists; relies on synthetic/assumed processes; does not address real-time user experience (filters, SOC/range-aware station choice) or offline check-in</a:t>
                      </a:r>
                      <a:endParaRPr lang="en-IN" sz="1000" dirty="0">
                        <a:latin typeface="Times New Roman" panose="02020503050405090304" pitchFamily="18" charset="0"/>
                        <a:cs typeface="Times New Roman" panose="02020503050405090304" pitchFamily="18" charset="0"/>
                      </a:endParaRPr>
                    </a:p>
                  </a:txBody>
                  <a:tcPr marL="68580" marR="68580" marT="34290" marB="34290"/>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4488" y="273845"/>
            <a:ext cx="5915025" cy="469106"/>
          </a:xfrm>
        </p:spPr>
        <p:txBody>
          <a:bodyPr>
            <a:normAutofit fontScale="90000"/>
          </a:bodyPr>
          <a:lstStyle/>
          <a:p>
            <a:pPr algn="ctr"/>
            <a:r>
              <a:rPr lang="en-IN" b="1" dirty="0">
                <a:latin typeface="Times New Roman Bold" panose="02020503050405090304" charset="0"/>
                <a:cs typeface="Times New Roman Bold" panose="02020503050405090304" charset="0"/>
              </a:rPr>
              <a:t>Literature Review</a:t>
            </a:r>
          </a:p>
        </p:txBody>
      </p:sp>
      <p:sp>
        <p:nvSpPr>
          <p:cNvPr id="6" name="Slide Number Placeholder 5"/>
          <p:cNvSpPr>
            <a:spLocks noGrp="1"/>
          </p:cNvSpPr>
          <p:nvPr>
            <p:ph type="sldNum" sz="quarter" idx="12"/>
          </p:nvPr>
        </p:nvSpPr>
        <p:spPr/>
        <p:txBody>
          <a:bodyPr/>
          <a:lstStyle/>
          <a:p>
            <a:fld id="{9BC567C3-B2D5-46D6-B103-873CDC8DC37A}" type="slidenum">
              <a:rPr lang="en-US" sz="750" smtClean="0"/>
              <a:t>6</a:t>
            </a:fld>
            <a:endParaRPr lang="en-US" sz="750"/>
          </a:p>
        </p:txBody>
      </p:sp>
      <p:pic>
        <p:nvPicPr>
          <p:cNvPr id="7" name="Picture 6"/>
          <p:cNvPicPr>
            <a:picLocks noChangeAspect="1"/>
          </p:cNvPicPr>
          <p:nvPr/>
        </p:nvPicPr>
        <p:blipFill>
          <a:blip r:embed="rId2"/>
          <a:stretch>
            <a:fillRect/>
          </a:stretch>
        </p:blipFill>
        <p:spPr>
          <a:xfrm>
            <a:off x="8444009" y="250"/>
            <a:ext cx="699577" cy="649280"/>
          </a:xfrm>
          <a:prstGeom prst="rect">
            <a:avLst/>
          </a:prstGeom>
        </p:spPr>
      </p:pic>
      <p:graphicFrame>
        <p:nvGraphicFramePr>
          <p:cNvPr id="14" name="Content Placeholder 13"/>
          <p:cNvGraphicFramePr>
            <a:graphicFrameLocks noGrp="1"/>
          </p:cNvGraphicFramePr>
          <p:nvPr>
            <p:ph idx="1"/>
            <p:extLst>
              <p:ext uri="{D42A27DB-BD31-4B8C-83A1-F6EECF244321}">
                <p14:modId xmlns:p14="http://schemas.microsoft.com/office/powerpoint/2010/main" val="3765713893"/>
              </p:ext>
            </p:extLst>
          </p:nvPr>
        </p:nvGraphicFramePr>
        <p:xfrm>
          <a:off x="384175" y="946150"/>
          <a:ext cx="8088630" cy="3830955"/>
        </p:xfrm>
        <a:graphic>
          <a:graphicData uri="http://schemas.openxmlformats.org/drawingml/2006/table">
            <a:tbl>
              <a:tblPr firstRow="1" bandRow="1">
                <a:tableStyleId>{5940675A-B579-460E-94D1-54222C63F5DA}</a:tableStyleId>
              </a:tblPr>
              <a:tblGrid>
                <a:gridCol w="528320">
                  <a:extLst>
                    <a:ext uri="{9D8B030D-6E8A-4147-A177-3AD203B41FA5}">
                      <a16:colId xmlns:a16="http://schemas.microsoft.com/office/drawing/2014/main" val="20000"/>
                    </a:ext>
                  </a:extLst>
                </a:gridCol>
                <a:gridCol w="1797685">
                  <a:extLst>
                    <a:ext uri="{9D8B030D-6E8A-4147-A177-3AD203B41FA5}">
                      <a16:colId xmlns:a16="http://schemas.microsoft.com/office/drawing/2014/main" val="20001"/>
                    </a:ext>
                  </a:extLst>
                </a:gridCol>
                <a:gridCol w="1953260">
                  <a:extLst>
                    <a:ext uri="{9D8B030D-6E8A-4147-A177-3AD203B41FA5}">
                      <a16:colId xmlns:a16="http://schemas.microsoft.com/office/drawing/2014/main" val="20002"/>
                    </a:ext>
                  </a:extLst>
                </a:gridCol>
                <a:gridCol w="1953895">
                  <a:extLst>
                    <a:ext uri="{9D8B030D-6E8A-4147-A177-3AD203B41FA5}">
                      <a16:colId xmlns:a16="http://schemas.microsoft.com/office/drawing/2014/main" val="20003"/>
                    </a:ext>
                  </a:extLst>
                </a:gridCol>
                <a:gridCol w="1855470">
                  <a:extLst>
                    <a:ext uri="{9D8B030D-6E8A-4147-A177-3AD203B41FA5}">
                      <a16:colId xmlns:a16="http://schemas.microsoft.com/office/drawing/2014/main" val="20004"/>
                    </a:ext>
                  </a:extLst>
                </a:gridCol>
              </a:tblGrid>
              <a:tr h="512445">
                <a:tc>
                  <a:txBody>
                    <a:bodyPr/>
                    <a:lstStyle/>
                    <a:p>
                      <a:pPr algn="ctr"/>
                      <a:r>
                        <a:rPr lang="en-IN" sz="1050" dirty="0">
                          <a:latin typeface="Times New Roman" panose="02020503050405090304" pitchFamily="18" charset="0"/>
                          <a:cs typeface="Times New Roman" panose="02020503050405090304" pitchFamily="18" charset="0"/>
                        </a:rPr>
                        <a:t>Sno</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Title</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Author</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Methodology</a:t>
                      </a:r>
                    </a:p>
                  </a:txBody>
                  <a:tcPr marL="68580" marR="68580" marT="34290" marB="34290"/>
                </a:tc>
                <a:tc>
                  <a:txBody>
                    <a:bodyPr/>
                    <a:lstStyle/>
                    <a:p>
                      <a:pPr algn="ctr"/>
                      <a:r>
                        <a:rPr lang="en-IN" sz="1050" dirty="0">
                          <a:latin typeface="Times New Roman" panose="02020503050405090304" pitchFamily="18" charset="0"/>
                          <a:cs typeface="Times New Roman" panose="02020503050405090304" pitchFamily="18" charset="0"/>
                        </a:rPr>
                        <a:t>Gaps </a:t>
                      </a:r>
                      <a:r>
                        <a:rPr lang="en-IN" sz="1050" dirty="0" err="1">
                          <a:latin typeface="Times New Roman" panose="02020503050405090304" pitchFamily="18" charset="0"/>
                          <a:cs typeface="Times New Roman" panose="02020503050405090304" pitchFamily="18" charset="0"/>
                        </a:rPr>
                        <a:t>analyzed</a:t>
                      </a:r>
                      <a:endParaRPr lang="en-IN" sz="1050" dirty="0">
                        <a:latin typeface="Times New Roman" panose="02020503050405090304" pitchFamily="18" charset="0"/>
                        <a:cs typeface="Times New Roman" panose="02020503050405090304" pitchFamily="18" charset="0"/>
                      </a:endParaRPr>
                    </a:p>
                  </a:txBody>
                  <a:tcPr marL="68580" marR="68580" marT="34290" marB="34290"/>
                </a:tc>
                <a:extLst>
                  <a:ext uri="{0D108BD9-81ED-4DB2-BD59-A6C34878D82A}">
                    <a16:rowId xmlns:a16="http://schemas.microsoft.com/office/drawing/2014/main" val="10000"/>
                  </a:ext>
                </a:extLst>
              </a:tr>
              <a:tr h="1710055">
                <a:tc>
                  <a:txBody>
                    <a:bodyPr/>
                    <a:lstStyle/>
                    <a:p>
                      <a:r>
                        <a:rPr lang="en-IN" sz="1000" dirty="0">
                          <a:latin typeface="Times New Roman" panose="02020503050405090304" pitchFamily="18" charset="0"/>
                          <a:cs typeface="Times New Roman" panose="02020503050405090304" pitchFamily="18" charset="0"/>
                        </a:rPr>
                        <a:t>3.</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hlinkClick r:id="rId3"/>
                        </a:rPr>
                        <a:t>Management of EV charging stations under advance reservations schemes in electricity markets</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IN" sz="1000" dirty="0">
                          <a:latin typeface="Times New Roman" panose="02020503050405090304" pitchFamily="18" charset="0"/>
                          <a:cs typeface="Times New Roman" panose="02020503050405090304" pitchFamily="18" charset="0"/>
                        </a:rPr>
                        <a:t>R. Bernal, D. Olivares, M. Negrete-</a:t>
                      </a:r>
                      <a:r>
                        <a:rPr lang="en-IN" sz="1000" dirty="0" err="1">
                          <a:latin typeface="Times New Roman" panose="02020503050405090304" pitchFamily="18" charset="0"/>
                          <a:cs typeface="Times New Roman" panose="02020503050405090304" pitchFamily="18" charset="0"/>
                        </a:rPr>
                        <a:t>Pincetic</a:t>
                      </a:r>
                      <a:r>
                        <a:rPr lang="en-IN" sz="1000" dirty="0">
                          <a:latin typeface="Times New Roman" panose="02020503050405090304" pitchFamily="18" charset="0"/>
                          <a:cs typeface="Times New Roman" panose="02020503050405090304" pitchFamily="18" charset="0"/>
                        </a:rPr>
                        <a:t>, et al. (2020)</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They suggested a system where charging slots can be reserved in advance. This helps station operators plan resources better by assigning chargers ahead of time, reducing uncertainty and making services more reliable</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The system mainly looks at reservations from the operator’s side and doesn’t cover real-life cases like walk-in users, overbooking, or managing waitlists. It also doesn’t consider how users behave when waiting is uncertain, and it lacks app features like maps or station filters.</a:t>
                      </a:r>
                      <a:endParaRPr lang="en-IN" sz="1000" dirty="0">
                        <a:latin typeface="Times New Roman" panose="02020503050405090304" pitchFamily="18" charset="0"/>
                        <a:cs typeface="Times New Roman" panose="02020503050405090304" pitchFamily="18" charset="0"/>
                      </a:endParaRPr>
                    </a:p>
                  </a:txBody>
                  <a:tcPr marL="68580" marR="68580" marT="34290" marB="34290"/>
                </a:tc>
                <a:extLst>
                  <a:ext uri="{0D108BD9-81ED-4DB2-BD59-A6C34878D82A}">
                    <a16:rowId xmlns:a16="http://schemas.microsoft.com/office/drawing/2014/main" val="10001"/>
                  </a:ext>
                </a:extLst>
              </a:tr>
              <a:tr h="1608455">
                <a:tc>
                  <a:txBody>
                    <a:bodyPr/>
                    <a:lstStyle/>
                    <a:p>
                      <a:r>
                        <a:rPr lang="en-IN" sz="1000" dirty="0">
                          <a:latin typeface="Times New Roman" panose="02020503050405090304" pitchFamily="18" charset="0"/>
                          <a:cs typeface="Times New Roman" panose="02020503050405090304" pitchFamily="18" charset="0"/>
                        </a:rPr>
                        <a:t>4.</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hlinkClick r:id="rId4"/>
                        </a:rPr>
                        <a:t>Dynamic modeling and real-time management of a system of EV fast-charging stations.</a:t>
                      </a:r>
                      <a:r>
                        <a:rPr lang="en-US" sz="1000" dirty="0">
                          <a:latin typeface="Times New Roman" panose="02020503050405090304" pitchFamily="18" charset="0"/>
                          <a:cs typeface="Times New Roman" panose="02020503050405090304" pitchFamily="18" charset="0"/>
                        </a:rPr>
                        <a:t> </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IN" sz="1000" dirty="0">
                          <a:latin typeface="Times New Roman" panose="02020503050405090304" pitchFamily="18" charset="0"/>
                          <a:cs typeface="Times New Roman" panose="02020503050405090304" pitchFamily="18" charset="0"/>
                        </a:rPr>
                        <a:t>D. Yang, N.J.S. Sarma, M.F. Hyland, R. Jayakrishnan (2021)</a:t>
                      </a: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They built a computer simulation of a regional charging network to study how drivers choose stations, how queues form, and how pricing can control demand. By adjusting prices based on demand, they showed waiting times could drop by about 26% and overall user experience improved.</a:t>
                      </a:r>
                      <a:endParaRPr lang="en-IN" sz="1000" dirty="0">
                        <a:latin typeface="Times New Roman" panose="02020503050405090304" pitchFamily="18" charset="0"/>
                        <a:cs typeface="Times New Roman" panose="02020503050405090304" pitchFamily="18" charset="0"/>
                      </a:endParaRPr>
                    </a:p>
                  </a:txBody>
                  <a:tcPr marL="68580" marR="68580" marT="34290" marB="34290"/>
                </a:tc>
                <a:tc>
                  <a:txBody>
                    <a:bodyPr/>
                    <a:lstStyle/>
                    <a:p>
                      <a:r>
                        <a:rPr lang="en-US" sz="1000" dirty="0">
                          <a:latin typeface="Times New Roman" panose="02020503050405090304" pitchFamily="18" charset="0"/>
                          <a:cs typeface="Times New Roman" panose="02020503050405090304" pitchFamily="18" charset="0"/>
                        </a:rPr>
                        <a:t>No explicit advance reservations / waitlist logic; assumes one operator across stations; limited evidence on no-shows/cancellations and offline verification; user-side UX (station discovery, filters) is outside scope.</a:t>
                      </a:r>
                      <a:endParaRPr lang="en-IN" sz="1000" dirty="0">
                        <a:latin typeface="Times New Roman" panose="02020503050405090304" pitchFamily="18" charset="0"/>
                        <a:cs typeface="Times New Roman" panose="02020503050405090304" pitchFamily="18" charset="0"/>
                      </a:endParaRPr>
                    </a:p>
                  </a:txBody>
                  <a:tcPr marL="68580" marR="68580" marT="34290" marB="34290"/>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215" y="-110"/>
            <a:ext cx="8520600" cy="572700"/>
          </a:xfrm>
        </p:spPr>
        <p:txBody>
          <a:bodyPr>
            <a:normAutofit fontScale="90000"/>
          </a:bodyPr>
          <a:lstStyle/>
          <a:p>
            <a:pPr algn="ctr"/>
            <a:r>
              <a:rPr lang="en-US" b="1">
                <a:latin typeface="Times New Roman Bold" panose="02020503050405090304" charset="0"/>
                <a:cs typeface="Times New Roman Bold" panose="02020503050405090304" charset="0"/>
              </a:rPr>
              <a:t>Architecture</a:t>
            </a:r>
          </a:p>
        </p:txBody>
      </p:sp>
      <p:pic>
        <p:nvPicPr>
          <p:cNvPr id="73" name="Google Shape;73;p15"/>
          <p:cNvPicPr preferRelativeResize="0"/>
          <p:nvPr/>
        </p:nvPicPr>
        <p:blipFill>
          <a:blip r:embed="rId2"/>
          <a:stretch>
            <a:fillRect/>
          </a:stretch>
        </p:blipFill>
        <p:spPr>
          <a:xfrm>
            <a:off x="8495715" y="79375"/>
            <a:ext cx="532200" cy="695700"/>
          </a:xfrm>
          <a:prstGeom prst="rect">
            <a:avLst/>
          </a:prstGeom>
          <a:noFill/>
          <a:ln>
            <a:noFill/>
          </a:ln>
        </p:spPr>
      </p:pic>
      <p:pic>
        <p:nvPicPr>
          <p:cNvPr id="4" name="Picture 3" descr="archietcyure.drawio"/>
          <p:cNvPicPr>
            <a:picLocks noChangeAspect="1"/>
          </p:cNvPicPr>
          <p:nvPr/>
        </p:nvPicPr>
        <p:blipFill>
          <a:blip r:embed="rId3"/>
          <a:stretch>
            <a:fillRect/>
          </a:stretch>
        </p:blipFill>
        <p:spPr>
          <a:xfrm>
            <a:off x="639445" y="695960"/>
            <a:ext cx="7864475" cy="43681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375" y="76725"/>
            <a:ext cx="8520600" cy="572700"/>
          </a:xfrm>
        </p:spPr>
        <p:txBody>
          <a:bodyPr>
            <a:normAutofit fontScale="90000"/>
          </a:bodyPr>
          <a:lstStyle/>
          <a:p>
            <a:pPr algn="ctr"/>
            <a:r>
              <a:rPr lang="en-US" b="1">
                <a:latin typeface="Times New Roman Bold" panose="02020503050405090304" charset="0"/>
                <a:cs typeface="Times New Roman Bold" panose="02020503050405090304" charset="0"/>
                <a:sym typeface="+mn-ea"/>
              </a:rPr>
              <a:t>Architecture</a:t>
            </a:r>
            <a:endParaRPr lang="en-US"/>
          </a:p>
        </p:txBody>
      </p:sp>
      <p:sp>
        <p:nvSpPr>
          <p:cNvPr id="3" name="Content Placeholder 2"/>
          <p:cNvSpPr>
            <a:spLocks noGrp="1"/>
          </p:cNvSpPr>
          <p:nvPr>
            <p:ph idx="1"/>
          </p:nvPr>
        </p:nvSpPr>
        <p:spPr>
          <a:xfrm>
            <a:off x="311785" y="779145"/>
            <a:ext cx="8520430" cy="3789680"/>
          </a:xfrm>
        </p:spPr>
        <p:txBody>
          <a:bodyPr/>
          <a:lstStyle/>
          <a:p>
            <a:r>
              <a:rPr lang="en-US" altLang="en-US" dirty="0">
                <a:solidFill>
                  <a:schemeClr val="tx1"/>
                </a:solidFill>
                <a:latin typeface="Times New Roman Regular" panose="02020503050405090304" charset="0"/>
                <a:cs typeface="Times New Roman Regular" panose="02020503050405090304" charset="0"/>
              </a:rPr>
              <a:t> User Layer</a:t>
            </a:r>
          </a:p>
          <a:p>
            <a:pPr marL="114300" indent="0">
              <a:buNone/>
            </a:pPr>
            <a:r>
              <a:rPr lang="en-US" altLang="en-US" dirty="0">
                <a:solidFill>
                  <a:schemeClr val="tx1"/>
                </a:solidFill>
                <a:latin typeface="Times New Roman Regular" panose="02020503050405090304" charset="0"/>
                <a:cs typeface="Times New Roman Regular" panose="02020503050405090304" charset="0"/>
              </a:rPr>
              <a:t>Collects user data through a web application interface such as location, battery status, preferences, and booking requests.</a:t>
            </a:r>
          </a:p>
          <a:p>
            <a:pPr marL="114300" indent="0">
              <a:buNone/>
            </a:pPr>
            <a:r>
              <a:rPr lang="en-US" altLang="en-US" dirty="0">
                <a:solidFill>
                  <a:schemeClr val="tx1"/>
                </a:solidFill>
                <a:latin typeface="Times New Roman Regular" panose="02020503050405090304" charset="0"/>
                <a:cs typeface="Times New Roman Regular" panose="02020503050405090304" charset="0"/>
              </a:rPr>
              <a:t>Initiates the interaction and communicates requests to the backend via the API Gateway.</a:t>
            </a:r>
          </a:p>
          <a:p>
            <a:pPr marL="114300" indent="0">
              <a:buNone/>
            </a:pPr>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API Gateway Layer</a:t>
            </a:r>
          </a:p>
          <a:p>
            <a:pPr marL="114300" indent="0">
              <a:buNone/>
            </a:pPr>
            <a:r>
              <a:rPr lang="en-US" altLang="en-US" dirty="0">
                <a:solidFill>
                  <a:schemeClr val="tx1"/>
                </a:solidFill>
                <a:latin typeface="Times New Roman Regular" panose="02020503050405090304" charset="0"/>
                <a:cs typeface="Times New Roman Regular" panose="02020503050405090304" charset="0"/>
              </a:rPr>
              <a:t>Handles request routing using Node.js and Express, acting as the entry point for all user communications.</a:t>
            </a:r>
          </a:p>
          <a:p>
            <a:pPr marL="114300" indent="0">
              <a:buNone/>
            </a:pPr>
            <a:r>
              <a:rPr lang="en-US" altLang="en-US" dirty="0">
                <a:solidFill>
                  <a:schemeClr val="tx1"/>
                </a:solidFill>
                <a:latin typeface="Times New Roman Regular" panose="02020503050405090304" charset="0"/>
                <a:cs typeface="Times New Roman Regular" panose="02020503050405090304" charset="0"/>
              </a:rPr>
              <a:t>Connects the user layer to the core services for streamlined and secure data flow throughout the system.</a:t>
            </a:r>
          </a:p>
          <a:p>
            <a:pPr marL="114300" indent="0">
              <a:buNone/>
            </a:pPr>
            <a:endParaRPr lang="en-US" altLang="en-US" dirty="0">
              <a:solidFill>
                <a:schemeClr val="tx1"/>
              </a:solidFill>
              <a:latin typeface="Times New Roman Regular" panose="02020503050405090304" charset="0"/>
              <a:cs typeface="Times New Roman Regular" panose="02020503050405090304" charset="0"/>
            </a:endParaRPr>
          </a:p>
          <a:p>
            <a:pPr marL="114300" indent="0">
              <a:buNone/>
            </a:pPr>
            <a:endParaRPr lang="en-US" altLang="en-US" dirty="0">
              <a:solidFill>
                <a:schemeClr val="tx1"/>
              </a:solidFill>
              <a:latin typeface="Times New Roman Regular" panose="02020503050405090304" charset="0"/>
              <a:cs typeface="Times New Roman Regular" panose="02020503050405090304" charset="0"/>
            </a:endParaRPr>
          </a:p>
        </p:txBody>
      </p:sp>
      <p:pic>
        <p:nvPicPr>
          <p:cNvPr id="7" name="Picture 6"/>
          <p:cNvPicPr>
            <a:picLocks noChangeAspect="1"/>
          </p:cNvPicPr>
          <p:nvPr/>
        </p:nvPicPr>
        <p:blipFill>
          <a:blip r:embed="rId2"/>
          <a:stretch>
            <a:fillRect/>
          </a:stretch>
        </p:blipFill>
        <p:spPr>
          <a:xfrm>
            <a:off x="8444009" y="250"/>
            <a:ext cx="699577" cy="649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76725"/>
            <a:ext cx="8520600" cy="572700"/>
          </a:xfrm>
        </p:spPr>
        <p:txBody>
          <a:bodyPr>
            <a:normAutofit fontScale="90000"/>
          </a:bodyPr>
          <a:lstStyle/>
          <a:p>
            <a:pPr algn="ctr"/>
            <a:r>
              <a:rPr lang="en-US" b="1">
                <a:latin typeface="Times New Roman Bold" panose="02020503050405090304" charset="0"/>
                <a:cs typeface="Times New Roman Bold" panose="02020503050405090304" charset="0"/>
                <a:sym typeface="+mn-ea"/>
              </a:rPr>
              <a:t>Architecture</a:t>
            </a:r>
            <a:endParaRPr lang="en-US"/>
          </a:p>
        </p:txBody>
      </p:sp>
      <p:sp>
        <p:nvSpPr>
          <p:cNvPr id="3" name="Content Placeholder 2"/>
          <p:cNvSpPr>
            <a:spLocks noGrp="1"/>
          </p:cNvSpPr>
          <p:nvPr>
            <p:ph idx="1"/>
          </p:nvPr>
        </p:nvSpPr>
        <p:spPr/>
        <p:txBody>
          <a:bodyPr>
            <a:normAutofit lnSpcReduction="10000"/>
          </a:bodyPr>
          <a:lstStyle/>
          <a:p>
            <a:r>
              <a:rPr lang="en-US" altLang="en-US" dirty="0">
                <a:solidFill>
                  <a:schemeClr val="tx1"/>
                </a:solidFill>
                <a:latin typeface="Times New Roman Regular" panose="02020503050405090304" charset="0"/>
                <a:cs typeface="Times New Roman Regular" panose="02020503050405090304" charset="0"/>
              </a:rPr>
              <a:t>Core Services Layer</a:t>
            </a:r>
          </a:p>
          <a:p>
            <a:pPr marL="114300" indent="0">
              <a:buNone/>
            </a:pPr>
            <a:r>
              <a:rPr lang="en-US" altLang="en-US" dirty="0">
                <a:solidFill>
                  <a:schemeClr val="tx1"/>
                </a:solidFill>
                <a:latin typeface="Times New Roman Regular" panose="02020503050405090304" charset="0"/>
                <a:cs typeface="Times New Roman Regular" panose="02020503050405090304" charset="0"/>
              </a:rPr>
              <a:t>Executes core business logic: range-based filtering, dynamic wait time prediction, chatbot, and offline scanner services.</a:t>
            </a:r>
          </a:p>
          <a:p>
            <a:pPr marL="114300" indent="0">
              <a:buNone/>
            </a:pPr>
            <a:r>
              <a:rPr lang="en-US" altLang="en-US" dirty="0">
                <a:solidFill>
                  <a:schemeClr val="tx1"/>
                </a:solidFill>
                <a:latin typeface="Times New Roman Regular" panose="02020503050405090304" charset="0"/>
                <a:cs typeface="Times New Roman Regular" panose="02020503050405090304" charset="0"/>
              </a:rPr>
              <a:t>Integrates with both external services and the data layer for data retrieval, prediction, and validation processes.</a:t>
            </a:r>
          </a:p>
          <a:p>
            <a:endParaRPr lang="en-US" altLang="en-US" dirty="0">
              <a:solidFill>
                <a:schemeClr val="tx1"/>
              </a:solidFill>
              <a:latin typeface="Times New Roman Regular" panose="02020503050405090304" charset="0"/>
              <a:cs typeface="Times New Roman Regular" panose="02020503050405090304" charset="0"/>
            </a:endParaRPr>
          </a:p>
          <a:p>
            <a:r>
              <a:rPr lang="en-US" altLang="en-US" dirty="0">
                <a:solidFill>
                  <a:schemeClr val="tx1"/>
                </a:solidFill>
                <a:latin typeface="Times New Roman Regular" panose="02020503050405090304" charset="0"/>
                <a:cs typeface="Times New Roman Regular" panose="02020503050405090304" charset="0"/>
              </a:rPr>
              <a:t> Data Layer</a:t>
            </a:r>
          </a:p>
          <a:p>
            <a:pPr marL="114300" indent="0">
              <a:buNone/>
            </a:pPr>
            <a:r>
              <a:rPr lang="en-US" altLang="en-US" dirty="0">
                <a:solidFill>
                  <a:schemeClr val="tx1"/>
                </a:solidFill>
                <a:latin typeface="Times New Roman Regular" panose="02020503050405090304" charset="0"/>
                <a:cs typeface="Times New Roman Regular" panose="02020503050405090304" charset="0"/>
              </a:rPr>
              <a:t>Stores all persistent data in PostgreSQL (primary DB), with additional caching and queue management through Redis.</a:t>
            </a:r>
          </a:p>
          <a:p>
            <a:pPr marL="114300" indent="0">
              <a:buNone/>
            </a:pPr>
            <a:r>
              <a:rPr lang="en-US" altLang="en-US" dirty="0">
                <a:solidFill>
                  <a:schemeClr val="tx1"/>
                </a:solidFill>
                <a:latin typeface="Times New Roman Regular" panose="02020503050405090304" charset="0"/>
                <a:cs typeface="Times New Roman Regular" panose="02020503050405090304" charset="0"/>
              </a:rPr>
              <a:t>Supports offline mode through local storage to ensure reliability during network disruptions.</a:t>
            </a:r>
          </a:p>
        </p:txBody>
      </p:sp>
      <p:pic>
        <p:nvPicPr>
          <p:cNvPr id="7" name="Picture 6"/>
          <p:cNvPicPr>
            <a:picLocks noChangeAspect="1"/>
          </p:cNvPicPr>
          <p:nvPr/>
        </p:nvPicPr>
        <p:blipFill>
          <a:blip r:embed="rId2"/>
          <a:stretch>
            <a:fillRect/>
          </a:stretch>
        </p:blipFill>
        <p:spPr>
          <a:xfrm>
            <a:off x="8444009" y="250"/>
            <a:ext cx="699577" cy="649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FB58-BFDC-C02C-59BD-B9153E773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409D9-B02D-6E80-6322-AFA6ED61C11E}"/>
              </a:ext>
            </a:extLst>
          </p:cNvPr>
          <p:cNvSpPr>
            <a:spLocks noGrp="1"/>
          </p:cNvSpPr>
          <p:nvPr>
            <p:ph type="title"/>
          </p:nvPr>
        </p:nvSpPr>
        <p:spPr>
          <a:xfrm>
            <a:off x="311700" y="76725"/>
            <a:ext cx="8520600" cy="572700"/>
          </a:xfrm>
        </p:spPr>
        <p:txBody>
          <a:bodyPr>
            <a:normAutofit fontScale="90000"/>
          </a:bodyPr>
          <a:lstStyle/>
          <a:p>
            <a:pPr algn="ctr"/>
            <a:r>
              <a:rPr lang="en-US" b="1">
                <a:latin typeface="Times New Roman Bold" panose="02020503050405090304" charset="0"/>
                <a:cs typeface="Times New Roman Bold" panose="02020503050405090304" charset="0"/>
                <a:sym typeface="+mn-ea"/>
              </a:rPr>
              <a:t>Architecture</a:t>
            </a:r>
            <a:endParaRPr lang="en-US"/>
          </a:p>
        </p:txBody>
      </p:sp>
      <p:sp>
        <p:nvSpPr>
          <p:cNvPr id="3" name="Content Placeholder 2">
            <a:extLst>
              <a:ext uri="{FF2B5EF4-FFF2-40B4-BE49-F238E27FC236}">
                <a16:creationId xmlns:a16="http://schemas.microsoft.com/office/drawing/2014/main" id="{9CB15432-2B00-FD36-15E7-BB0CC9084FA1}"/>
              </a:ext>
            </a:extLst>
          </p:cNvPr>
          <p:cNvSpPr>
            <a:spLocks noGrp="1"/>
          </p:cNvSpPr>
          <p:nvPr>
            <p:ph idx="1"/>
          </p:nvPr>
        </p:nvSpPr>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External Services Layer</a:t>
            </a:r>
          </a:p>
          <a:p>
            <a:pPr marL="114300" indent="0">
              <a:buNone/>
            </a:pPr>
            <a:r>
              <a:rPr lang="en-US" dirty="0">
                <a:solidFill>
                  <a:schemeClr val="tx1"/>
                </a:solidFill>
                <a:latin typeface="Times New Roman" panose="02020603050405020304" pitchFamily="18" charset="0"/>
                <a:cs typeface="Times New Roman" panose="02020603050405020304" pitchFamily="18" charset="0"/>
              </a:rPr>
              <a:t>Provides real-time map, traffic, and routing data using APIs such as Google Maps and Open Street Map.</a:t>
            </a:r>
          </a:p>
          <a:p>
            <a:pPr marL="114300" indent="0">
              <a:buNone/>
            </a:pPr>
            <a:r>
              <a:rPr lang="en-US" dirty="0">
                <a:solidFill>
                  <a:schemeClr val="tx1"/>
                </a:solidFill>
                <a:latin typeface="Times New Roman" panose="02020603050405020304" pitchFamily="18" charset="0"/>
                <a:cs typeface="Times New Roman" panose="02020603050405020304" pitchFamily="18" charset="0"/>
              </a:rPr>
              <a:t>Handles notifications sent to users and enriches core service functionality with additional real-world data inputs.</a:t>
            </a:r>
          </a:p>
          <a:p>
            <a:endParaRPr lang="en-US" altLang="en-US" dirty="0">
              <a:solidFill>
                <a:schemeClr val="tx1"/>
              </a:solidFill>
              <a:latin typeface="Times New Roman Regular" panose="02020503050405090304" charset="0"/>
              <a:cs typeface="Times New Roman Regular" panose="02020503050405090304" charset="0"/>
            </a:endParaRPr>
          </a:p>
        </p:txBody>
      </p:sp>
      <p:pic>
        <p:nvPicPr>
          <p:cNvPr id="7" name="Picture 6">
            <a:extLst>
              <a:ext uri="{FF2B5EF4-FFF2-40B4-BE49-F238E27FC236}">
                <a16:creationId xmlns:a16="http://schemas.microsoft.com/office/drawing/2014/main" id="{24415E09-C358-740C-8B10-60D9924FB753}"/>
              </a:ext>
            </a:extLst>
          </p:cNvPr>
          <p:cNvPicPr>
            <a:picLocks noChangeAspect="1"/>
          </p:cNvPicPr>
          <p:nvPr/>
        </p:nvPicPr>
        <p:blipFill>
          <a:blip r:embed="rId2"/>
          <a:stretch>
            <a:fillRect/>
          </a:stretch>
        </p:blipFill>
        <p:spPr>
          <a:xfrm>
            <a:off x="8444009" y="250"/>
            <a:ext cx="699577" cy="649280"/>
          </a:xfrm>
          <a:prstGeom prst="rect">
            <a:avLst/>
          </a:prstGeom>
        </p:spPr>
      </p:pic>
    </p:spTree>
    <p:extLst>
      <p:ext uri="{BB962C8B-B14F-4D97-AF65-F5344CB8AC3E}">
        <p14:creationId xmlns:p14="http://schemas.microsoft.com/office/powerpoint/2010/main" val="3664583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17390"/>
            <a:ext cx="8520600" cy="572700"/>
          </a:xfrm>
        </p:spPr>
        <p:txBody>
          <a:bodyPr>
            <a:normAutofit/>
          </a:bodyPr>
          <a:lstStyle/>
          <a:p>
            <a:pPr algn="ctr"/>
            <a:r>
              <a:rPr lang="en-US" sz="1800" b="1">
                <a:latin typeface="Times New Roman Bold" panose="02020503050405090304" charset="0"/>
                <a:cs typeface="Times New Roman Bold" panose="02020503050405090304" charset="0"/>
              </a:rPr>
              <a:t>WORK FLOW DIAGRAM</a:t>
            </a:r>
          </a:p>
        </p:txBody>
      </p:sp>
      <p:pic>
        <p:nvPicPr>
          <p:cNvPr id="4" name="Picture 3"/>
          <p:cNvPicPr>
            <a:picLocks noChangeAspect="1"/>
          </p:cNvPicPr>
          <p:nvPr/>
        </p:nvPicPr>
        <p:blipFill>
          <a:blip r:embed="rId2"/>
          <a:stretch>
            <a:fillRect/>
          </a:stretch>
        </p:blipFill>
        <p:spPr>
          <a:xfrm>
            <a:off x="0" y="890270"/>
            <a:ext cx="4297680" cy="4253230"/>
          </a:xfrm>
          <a:prstGeom prst="rect">
            <a:avLst/>
          </a:prstGeom>
        </p:spPr>
      </p:pic>
      <p:pic>
        <p:nvPicPr>
          <p:cNvPr id="95" name="Google Shape;95;p17"/>
          <p:cNvPicPr preferRelativeResize="0"/>
          <p:nvPr/>
        </p:nvPicPr>
        <p:blipFill>
          <a:blip r:embed="rId3"/>
          <a:stretch>
            <a:fillRect/>
          </a:stretch>
        </p:blipFill>
        <p:spPr>
          <a:xfrm>
            <a:off x="8611800" y="0"/>
            <a:ext cx="532200" cy="695700"/>
          </a:xfrm>
          <a:prstGeom prst="rect">
            <a:avLst/>
          </a:prstGeom>
          <a:noFill/>
          <a:ln>
            <a:noFill/>
          </a:ln>
        </p:spPr>
      </p:pic>
      <p:pic>
        <p:nvPicPr>
          <p:cNvPr id="5" name="Picture 4"/>
          <p:cNvPicPr>
            <a:picLocks noChangeAspect="1"/>
          </p:cNvPicPr>
          <p:nvPr/>
        </p:nvPicPr>
        <p:blipFill>
          <a:blip r:embed="rId4"/>
          <a:stretch>
            <a:fillRect/>
          </a:stretch>
        </p:blipFill>
        <p:spPr>
          <a:xfrm>
            <a:off x="4808307" y="984998"/>
            <a:ext cx="3803493" cy="40637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p:nvPr/>
        </p:nvSpPr>
        <p:spPr>
          <a:xfrm>
            <a:off x="0" y="0"/>
            <a:ext cx="9144000" cy="572700"/>
          </a:xfrm>
          <a:prstGeom prst="rect">
            <a:avLst/>
          </a:prstGeom>
          <a:noFill/>
          <a:ln>
            <a:noFill/>
          </a:ln>
        </p:spPr>
        <p:txBody>
          <a:bodyPr spcFirstLastPara="1" wrap="square" lIns="91425" tIns="91425" rIns="91425" bIns="91425" anchor="t" anchorCtr="0">
            <a:normAutofit/>
          </a:bodyPr>
          <a:lstStyle/>
          <a:p>
            <a:pPr marL="0" lvl="0" indent="0" algn="ctr" rtl="0">
              <a:lnSpc>
                <a:spcPct val="90000"/>
              </a:lnSpc>
              <a:spcBef>
                <a:spcPts val="0"/>
              </a:spcBef>
              <a:spcAft>
                <a:spcPts val="0"/>
              </a:spcAft>
              <a:buNone/>
            </a:pPr>
            <a:r>
              <a:rPr lang="en-GB" sz="2500" b="1">
                <a:latin typeface="Times New Roman Bold" panose="02020503050405090304" charset="0"/>
                <a:cs typeface="Times New Roman Bold" panose="02020503050405090304" charset="0"/>
              </a:rPr>
              <a:t>Workflow</a:t>
            </a:r>
            <a:endParaRPr sz="2500" b="1">
              <a:solidFill>
                <a:srgbClr val="000000"/>
              </a:solidFill>
              <a:latin typeface="Times New Roman Bold" panose="02020503050405090304" charset="0"/>
              <a:cs typeface="Times New Roman Bold" panose="02020503050405090304" charset="0"/>
            </a:endParaRPr>
          </a:p>
        </p:txBody>
      </p:sp>
      <p:pic>
        <p:nvPicPr>
          <p:cNvPr id="155" name="Google Shape;155;p23"/>
          <p:cNvPicPr preferRelativeResize="0"/>
          <p:nvPr/>
        </p:nvPicPr>
        <p:blipFill>
          <a:blip r:embed="rId3"/>
          <a:stretch>
            <a:fillRect/>
          </a:stretch>
        </p:blipFill>
        <p:spPr>
          <a:xfrm>
            <a:off x="8611800" y="0"/>
            <a:ext cx="532200" cy="695700"/>
          </a:xfrm>
          <a:prstGeom prst="rect">
            <a:avLst/>
          </a:prstGeom>
          <a:noFill/>
          <a:ln>
            <a:noFill/>
          </a:ln>
        </p:spPr>
      </p:pic>
      <p:sp>
        <p:nvSpPr>
          <p:cNvPr id="157" name="Google Shape;157;p23"/>
          <p:cNvSpPr txBox="1"/>
          <p:nvPr/>
        </p:nvSpPr>
        <p:spPr>
          <a:xfrm>
            <a:off x="8791275" y="4770075"/>
            <a:ext cx="2928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11</a:t>
            </a:r>
            <a:endParaRPr sz="500">
              <a:solidFill>
                <a:srgbClr val="666666"/>
              </a:solidFill>
              <a:latin typeface="Calibri"/>
              <a:ea typeface="Calibri"/>
              <a:cs typeface="Calibri"/>
              <a:sym typeface="Calibri"/>
            </a:endParaRPr>
          </a:p>
        </p:txBody>
      </p:sp>
      <p:sp>
        <p:nvSpPr>
          <p:cNvPr id="159" name="Google Shape;159;p23"/>
          <p:cNvSpPr txBox="1"/>
          <p:nvPr/>
        </p:nvSpPr>
        <p:spPr>
          <a:xfrm>
            <a:off x="574040" y="497205"/>
            <a:ext cx="7566660" cy="4081780"/>
          </a:xfrm>
          <a:prstGeom prst="rect">
            <a:avLst/>
          </a:prstGeom>
          <a:noFill/>
          <a:ln>
            <a:noFill/>
          </a:ln>
        </p:spPr>
        <p:txBody>
          <a:bodyPr spcFirstLastPara="1" wrap="square" lIns="91425" tIns="91425" rIns="91425" bIns="91425" anchor="t" anchorCtr="0">
            <a:noAutofit/>
          </a:bodyPr>
          <a:lstStyle/>
          <a:p>
            <a:pPr marL="158750" lvl="0" indent="0" algn="l" rtl="0">
              <a:lnSpc>
                <a:spcPct val="115000"/>
              </a:lnSpc>
              <a:spcBef>
                <a:spcPts val="1200"/>
              </a:spcBef>
              <a:spcAft>
                <a:spcPts val="0"/>
              </a:spcAft>
              <a:buClr>
                <a:schemeClr val="dk1"/>
              </a:buClr>
              <a:buSzPts val="1100"/>
              <a:buNone/>
            </a:pPr>
            <a:r>
              <a:rPr lang="en-US" altLang="en-US" sz="1800" b="1">
                <a:solidFill>
                  <a:schemeClr val="dk1"/>
                </a:solidFill>
                <a:latin typeface="Times New Roman Bold" panose="02020503050405090304" charset="0"/>
                <a:cs typeface="Times New Roman Bold" panose="02020503050405090304" charset="0"/>
              </a:rPr>
              <a:t>1. User Input &amp; Initialization</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User opens app/website → inputs EV details</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App fetches current SoC, battery capacity, and location</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System checks user preferences (charger type, nearest, fastest)</a:t>
            </a:r>
          </a:p>
          <a:p>
            <a:pPr marL="914400" lvl="1" indent="-298450" algn="l" rtl="0">
              <a:lnSpc>
                <a:spcPct val="115000"/>
              </a:lnSpc>
              <a:spcBef>
                <a:spcPts val="0"/>
              </a:spcBef>
              <a:spcAft>
                <a:spcPts val="0"/>
              </a:spcAft>
              <a:buClr>
                <a:schemeClr val="dk1"/>
              </a:buClr>
              <a:buSzPts val="1100"/>
              <a:buChar char="○"/>
            </a:pPr>
            <a:endParaRPr lang="en-US" altLang="en-US" sz="1800">
              <a:solidFill>
                <a:schemeClr val="dk1"/>
              </a:solidFill>
              <a:latin typeface="Times New Roman Regular" panose="02020503050405090304" charset="0"/>
              <a:cs typeface="Times New Roman Regular" panose="02020503050405090304" charset="0"/>
            </a:endParaRPr>
          </a:p>
          <a:p>
            <a:pPr marL="158750" lvl="0" indent="0" algn="l" rtl="0">
              <a:lnSpc>
                <a:spcPct val="115000"/>
              </a:lnSpc>
              <a:spcBef>
                <a:spcPts val="0"/>
              </a:spcBef>
              <a:spcAft>
                <a:spcPts val="0"/>
              </a:spcAft>
              <a:buClr>
                <a:schemeClr val="dk1"/>
              </a:buClr>
              <a:buSzPts val="1100"/>
              <a:buNone/>
            </a:pPr>
            <a:r>
              <a:rPr lang="en-US" altLang="en-US" sz="1800" b="1">
                <a:solidFill>
                  <a:schemeClr val="dk1"/>
                </a:solidFill>
                <a:latin typeface="Times New Roman Bold" panose="02020503050405090304" charset="0"/>
                <a:cs typeface="Times New Roman Bold" panose="02020503050405090304" charset="0"/>
              </a:rPr>
              <a:t>2. Range-Based Filtering</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System collects station locations and types</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Fetches distance, traffic, and elevation from Google Maps API</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Features are prepared: SoC, battery, traffic, elevation, speed</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Regression model predicts reachable range (km)</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Stations beyond predicted range are filtered out</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Remaining stations ranked by distance, availability, charger type</a:t>
            </a:r>
          </a:p>
          <a:p>
            <a:pPr marL="914400" lvl="1" indent="-298450" algn="l" rtl="0">
              <a:lnSpc>
                <a:spcPct val="115000"/>
              </a:lnSpc>
              <a:spcBef>
                <a:spcPts val="0"/>
              </a:spcBef>
              <a:spcAft>
                <a:spcPts val="0"/>
              </a:spcAft>
              <a:buClr>
                <a:schemeClr val="dk1"/>
              </a:buClr>
              <a:buSzPts val="1100"/>
              <a:buChar char="○"/>
            </a:pPr>
            <a:r>
              <a:rPr lang="en-US" altLang="en-US" sz="1800">
                <a:solidFill>
                  <a:schemeClr val="dk1"/>
                </a:solidFill>
                <a:latin typeface="Times New Roman Regular" panose="02020503050405090304" charset="0"/>
                <a:cs typeface="Times New Roman Regular" panose="02020503050405090304" charset="0"/>
              </a:rPr>
              <a:t>Recommendations sent to frontend (map + list)</a:t>
            </a:r>
            <a:endParaRPr sz="1800">
              <a:solidFill>
                <a:schemeClr val="dk2"/>
              </a:solidFill>
            </a:endParaRPr>
          </a:p>
        </p:txBody>
      </p:sp>
      <p:sp>
        <p:nvSpPr>
          <p:cNvPr id="160" name="Google Shape;160;p23"/>
          <p:cNvSpPr txBox="1"/>
          <p:nvPr/>
        </p:nvSpPr>
        <p:spPr>
          <a:xfrm>
            <a:off x="0" y="4835700"/>
            <a:ext cx="1638000" cy="304165"/>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a:t>
            </a:r>
            <a:r>
              <a:rPr lang="en-US" altLang="en-GB" sz="800">
                <a:solidFill>
                  <a:srgbClr val="666666"/>
                </a:solidFill>
              </a:rPr>
              <a:t>8</a:t>
            </a:r>
            <a:r>
              <a:rPr lang="en-GB" sz="800">
                <a:solidFill>
                  <a:srgbClr val="666666"/>
                </a:solidFill>
              </a:rPr>
              <a:t>/09/2025</a:t>
            </a:r>
            <a:endParaRPr sz="500">
              <a:solidFill>
                <a:srgbClr val="66666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p:nvPr/>
        </p:nvSpPr>
        <p:spPr>
          <a:xfrm>
            <a:off x="-214630" y="124460"/>
            <a:ext cx="9144000" cy="572700"/>
          </a:xfrm>
          <a:prstGeom prst="rect">
            <a:avLst/>
          </a:prstGeom>
          <a:noFill/>
          <a:ln>
            <a:noFill/>
          </a:ln>
        </p:spPr>
        <p:txBody>
          <a:bodyPr spcFirstLastPara="1" wrap="square" lIns="91425" tIns="91425" rIns="91425" bIns="91425" anchor="t" anchorCtr="0">
            <a:normAutofit/>
          </a:bodyPr>
          <a:lstStyle/>
          <a:p>
            <a:pPr marL="0" lvl="0" indent="0" algn="ctr" rtl="0">
              <a:lnSpc>
                <a:spcPct val="90000"/>
              </a:lnSpc>
              <a:spcBef>
                <a:spcPts val="0"/>
              </a:spcBef>
              <a:spcAft>
                <a:spcPts val="0"/>
              </a:spcAft>
              <a:buNone/>
            </a:pPr>
            <a:r>
              <a:rPr lang="en-GB" sz="2500" b="1">
                <a:latin typeface="Times New Roman Bold" panose="02020503050405090304" charset="0"/>
                <a:cs typeface="Times New Roman Bold" panose="02020503050405090304" charset="0"/>
              </a:rPr>
              <a:t>Workflow</a:t>
            </a:r>
            <a:endParaRPr lang="en-GB" sz="2500" b="1">
              <a:solidFill>
                <a:srgbClr val="000000"/>
              </a:solidFill>
              <a:latin typeface="Times New Roman Bold" panose="02020503050405090304" charset="0"/>
              <a:cs typeface="Times New Roman Bold" panose="02020503050405090304" charset="0"/>
            </a:endParaRPr>
          </a:p>
        </p:txBody>
      </p:sp>
      <p:pic>
        <p:nvPicPr>
          <p:cNvPr id="166" name="Google Shape;166;p24"/>
          <p:cNvPicPr preferRelativeResize="0"/>
          <p:nvPr/>
        </p:nvPicPr>
        <p:blipFill>
          <a:blip r:embed="rId3"/>
          <a:stretch>
            <a:fillRect/>
          </a:stretch>
        </p:blipFill>
        <p:spPr>
          <a:xfrm>
            <a:off x="8611800" y="0"/>
            <a:ext cx="532200" cy="695700"/>
          </a:xfrm>
          <a:prstGeom prst="rect">
            <a:avLst/>
          </a:prstGeom>
          <a:noFill/>
          <a:ln>
            <a:noFill/>
          </a:ln>
        </p:spPr>
      </p:pic>
      <p:sp>
        <p:nvSpPr>
          <p:cNvPr id="168" name="Google Shape;168;p24"/>
          <p:cNvSpPr txBox="1"/>
          <p:nvPr/>
        </p:nvSpPr>
        <p:spPr>
          <a:xfrm>
            <a:off x="8670500" y="4770075"/>
            <a:ext cx="4137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12</a:t>
            </a:r>
            <a:endParaRPr sz="500">
              <a:solidFill>
                <a:srgbClr val="666666"/>
              </a:solidFill>
              <a:latin typeface="Calibri"/>
              <a:ea typeface="Calibri"/>
              <a:cs typeface="Calibri"/>
              <a:sym typeface="Calibri"/>
            </a:endParaRPr>
          </a:p>
        </p:txBody>
      </p:sp>
      <p:sp>
        <p:nvSpPr>
          <p:cNvPr id="170" name="Google Shape;170;p24"/>
          <p:cNvSpPr txBox="1"/>
          <p:nvPr/>
        </p:nvSpPr>
        <p:spPr>
          <a:xfrm>
            <a:off x="267335" y="889635"/>
            <a:ext cx="8402955" cy="3880485"/>
          </a:xfrm>
          <a:prstGeom prst="rect">
            <a:avLst/>
          </a:prstGeom>
          <a:noFill/>
          <a:ln>
            <a:noFill/>
          </a:ln>
        </p:spPr>
        <p:txBody>
          <a:bodyPr spcFirstLastPara="1" wrap="square" lIns="91425" tIns="91425" rIns="91425" bIns="91425" anchor="t" anchorCtr="0">
            <a:noAutofit/>
          </a:bodyPr>
          <a:lstStyle/>
          <a:p>
            <a:pPr marL="158750" lvl="0" indent="0" algn="l" rtl="0">
              <a:lnSpc>
                <a:spcPct val="115000"/>
              </a:lnSpc>
              <a:spcBef>
                <a:spcPts val="0"/>
              </a:spcBef>
              <a:spcAft>
                <a:spcPts val="0"/>
              </a:spcAft>
              <a:buClr>
                <a:schemeClr val="dk1"/>
              </a:buClr>
              <a:buSzPts val="1100"/>
              <a:buNone/>
            </a:pPr>
            <a:r>
              <a:rPr lang="en-US" altLang="en-US" sz="1500" b="1">
                <a:solidFill>
                  <a:schemeClr val="dk1"/>
                </a:solidFill>
                <a:latin typeface="Times New Roman Bold" panose="02020503050405090304" charset="0"/>
                <a:cs typeface="Times New Roman Bold" panose="02020503050405090304" charset="0"/>
                <a:sym typeface="+mn-ea"/>
              </a:rPr>
              <a:t>3. Dynamic Wait Time Prediction</a:t>
            </a:r>
            <a:endParaRPr lang="en-US" altLang="en-US" sz="1500" b="1">
              <a:solidFill>
                <a:schemeClr val="dk1"/>
              </a:solidFill>
              <a:latin typeface="Times New Roman Bold" panose="02020503050405090304" charset="0"/>
              <a:cs typeface="Times New Roman Bold"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User selects a station</a:t>
            </a:r>
            <a:endParaRPr lang="en-US" altLang="en-US" sz="150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System fetches real-time occupancy, slot bookings, arrival times</a:t>
            </a:r>
            <a:endParaRPr lang="en-US" altLang="en-US" sz="150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Preprocess data: time, day, traffic, charger usage</a:t>
            </a:r>
            <a:endParaRPr lang="en-US" altLang="en-US" sz="150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ML/analytics model predicts wait time + next available slot</a:t>
            </a:r>
            <a:endParaRPr lang="en-US" altLang="en-US" sz="150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Display predicted wait time to user</a:t>
            </a:r>
            <a:endParaRPr lang="en-US" altLang="en-US" sz="150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sym typeface="+mn-ea"/>
              </a:rPr>
              <a:t>User can book slot or choose another station</a:t>
            </a:r>
            <a:endParaRPr lang="en-US" altLang="en-GB" sz="1500" b="1">
              <a:solidFill>
                <a:schemeClr val="dk1"/>
              </a:solidFill>
              <a:latin typeface="Times New Roman Regular" panose="02020503050405090304" charset="0"/>
              <a:cs typeface="Times New Roman Regular" panose="02020503050405090304" charset="0"/>
            </a:endParaRPr>
          </a:p>
          <a:p>
            <a:pPr marL="0" lvl="0" indent="0" algn="l" rtl="0">
              <a:lnSpc>
                <a:spcPct val="115000"/>
              </a:lnSpc>
              <a:spcBef>
                <a:spcPts val="1200"/>
              </a:spcBef>
              <a:spcAft>
                <a:spcPts val="0"/>
              </a:spcAft>
              <a:buNone/>
            </a:pPr>
            <a:r>
              <a:rPr lang="en-US" altLang="en-GB" sz="1500" b="1">
                <a:solidFill>
                  <a:schemeClr val="dk1"/>
                </a:solidFill>
                <a:latin typeface="Times New Roman Regular" panose="02020503050405090304" charset="0"/>
                <a:cs typeface="Times New Roman Regular" panose="02020503050405090304" charset="0"/>
              </a:rPr>
              <a:t>  4</a:t>
            </a:r>
            <a:r>
              <a:rPr lang="en-GB" sz="1500" b="1">
                <a:solidFill>
                  <a:schemeClr val="dk1"/>
                </a:solidFill>
                <a:latin typeface="Times New Roman Regular" panose="02020503050405090304" charset="0"/>
                <a:cs typeface="Times New Roman Regular" panose="02020503050405090304" charset="0"/>
              </a:rPr>
              <a:t>.</a:t>
            </a:r>
            <a:r>
              <a:rPr lang="en-US" altLang="en-US" sz="1500" b="1">
                <a:solidFill>
                  <a:schemeClr val="dk1"/>
                </a:solidFill>
                <a:latin typeface="Times New Roman Bold" panose="02020503050405090304" charset="0"/>
                <a:cs typeface="Times New Roman Bold" panose="02020503050405090304" charset="0"/>
              </a:rPr>
              <a:t>Slot Booking &amp; Offline Validation :</a:t>
            </a: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rPr>
              <a:t>User books → server issues token + QR</a:t>
            </a: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rPr>
              <a:t>Booking details cached locally for offline mode</a:t>
            </a: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rPr>
              <a:t>At station: scan QR → validate locally</a:t>
            </a: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rPr>
              <a:t>If valid → charging session starts, logs stored</a:t>
            </a:r>
          </a:p>
          <a:p>
            <a:pPr marL="914400" lvl="1" indent="-298450" algn="l" rtl="0">
              <a:lnSpc>
                <a:spcPct val="115000"/>
              </a:lnSpc>
              <a:spcBef>
                <a:spcPts val="0"/>
              </a:spcBef>
              <a:spcAft>
                <a:spcPts val="0"/>
              </a:spcAft>
              <a:buClr>
                <a:schemeClr val="dk1"/>
              </a:buClr>
              <a:buSzPts val="1100"/>
              <a:buChar char="○"/>
            </a:pPr>
            <a:r>
              <a:rPr lang="en-US" altLang="en-US" sz="1500">
                <a:solidFill>
                  <a:schemeClr val="dk1"/>
                </a:solidFill>
                <a:latin typeface="Times New Roman Regular" panose="02020503050405090304" charset="0"/>
                <a:cs typeface="Times New Roman Regular" panose="02020503050405090304" charset="0"/>
              </a:rPr>
              <a:t>Once online → sync logs to server for billing &amp; confirmation</a:t>
            </a:r>
            <a:endParaRPr sz="1100" b="1">
              <a:solidFill>
                <a:schemeClr val="dk1"/>
              </a:solidFill>
            </a:endParaRPr>
          </a:p>
        </p:txBody>
      </p:sp>
      <p:sp>
        <p:nvSpPr>
          <p:cNvPr id="171" name="Google Shape;171;p24"/>
          <p:cNvSpPr txBox="1"/>
          <p:nvPr/>
        </p:nvSpPr>
        <p:spPr>
          <a:xfrm>
            <a:off x="0" y="4835700"/>
            <a:ext cx="16380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11/09/2025</a:t>
            </a:r>
            <a:endParaRPr sz="500">
              <a:solidFill>
                <a:srgbClr val="66666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91990"/>
            <a:ext cx="8520600" cy="572700"/>
          </a:xfrm>
        </p:spPr>
        <p:txBody>
          <a:bodyPr>
            <a:normAutofit fontScale="90000"/>
          </a:bodyPr>
          <a:lstStyle/>
          <a:p>
            <a:pPr algn="ctr"/>
            <a:r>
              <a:rPr lang="en-GB" b="1" dirty="0">
                <a:latin typeface="Times New Roman Bold" panose="02020503050405090304" charset="0"/>
                <a:cs typeface="Times New Roman Bold" panose="02020503050405090304" charset="0"/>
                <a:sym typeface="+mn-ea"/>
              </a:rPr>
              <a:t>Workflow</a:t>
            </a:r>
            <a:endParaRPr lang="en-US" dirty="0"/>
          </a:p>
        </p:txBody>
      </p:sp>
      <p:sp>
        <p:nvSpPr>
          <p:cNvPr id="3" name="Text Placeholder 2"/>
          <p:cNvSpPr>
            <a:spLocks noGrp="1"/>
          </p:cNvSpPr>
          <p:nvPr>
            <p:ph type="body" idx="1"/>
          </p:nvPr>
        </p:nvSpPr>
        <p:spPr>
          <a:xfrm>
            <a:off x="357300" y="987690"/>
            <a:ext cx="8520600" cy="3416400"/>
          </a:xfrm>
        </p:spPr>
        <p:txBody>
          <a:bodyPr/>
          <a:lstStyle/>
          <a:p>
            <a:pPr marL="0" lvl="0" indent="0" algn="l" rtl="0">
              <a:lnSpc>
                <a:spcPct val="115000"/>
              </a:lnSpc>
              <a:spcBef>
                <a:spcPts val="1200"/>
              </a:spcBef>
              <a:spcAft>
                <a:spcPts val="0"/>
              </a:spcAft>
              <a:buNone/>
            </a:pPr>
            <a:r>
              <a:rPr lang="en-US" altLang="en-GB" sz="1800" b="1" dirty="0">
                <a:solidFill>
                  <a:schemeClr val="dk1"/>
                </a:solidFill>
                <a:latin typeface="Times New Roman Regular" panose="02020503050405090304" charset="0"/>
                <a:cs typeface="Times New Roman Regular" panose="02020503050405090304" charset="0"/>
                <a:sym typeface="+mn-ea"/>
              </a:rPr>
              <a:t>5</a:t>
            </a:r>
            <a:r>
              <a:rPr lang="en-GB" sz="1800" b="1" dirty="0">
                <a:solidFill>
                  <a:schemeClr val="dk1"/>
                </a:solidFill>
                <a:latin typeface="Times New Roman Regular" panose="02020503050405090304" charset="0"/>
                <a:cs typeface="Times New Roman Regular" panose="02020503050405090304" charset="0"/>
                <a:sym typeface="+mn-ea"/>
              </a:rPr>
              <a:t>.</a:t>
            </a:r>
            <a:r>
              <a:rPr lang="en-US" altLang="en-US" sz="1800" b="1" dirty="0">
                <a:solidFill>
                  <a:schemeClr val="dk1"/>
                </a:solidFill>
                <a:latin typeface="Times New Roman Bold" panose="02020503050405090304" charset="0"/>
                <a:cs typeface="Times New Roman Bold" panose="02020503050405090304" charset="0"/>
                <a:sym typeface="+mn-ea"/>
              </a:rPr>
              <a:t>Chatbot Assistance</a:t>
            </a:r>
            <a:endParaRPr lang="en-US" altLang="en-US" sz="1800" b="1" dirty="0">
              <a:solidFill>
                <a:schemeClr val="dk1"/>
              </a:solidFill>
              <a:latin typeface="Times New Roman Bold" panose="02020503050405090304" charset="0"/>
              <a:cs typeface="Times New Roman Bold"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User asks query → chatbot receives input</a:t>
            </a:r>
            <a:endParaRPr lang="en-US" altLang="en-US" sz="1800" dirty="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BERT model detects intent + entities</a:t>
            </a:r>
            <a:endParaRPr lang="en-US" altLang="en-US" sz="1800" dirty="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Backend processes query → fetches data from DB/APIs</a:t>
            </a:r>
            <a:endParaRPr lang="en-US" altLang="en-US" sz="1800" dirty="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Generates response (nearest station, wait time, booking info)</a:t>
            </a:r>
            <a:endParaRPr lang="en-US" altLang="en-US" sz="1800" dirty="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Reply sent to user in real-time</a:t>
            </a:r>
            <a:endParaRPr lang="en-US" altLang="en-US" sz="1800" dirty="0">
              <a:solidFill>
                <a:schemeClr val="dk1"/>
              </a:solidFill>
              <a:latin typeface="Times New Roman Regular" panose="02020503050405090304" charset="0"/>
              <a:cs typeface="Times New Roman Regular" panose="02020503050405090304" charset="0"/>
            </a:endParaRPr>
          </a:p>
          <a:p>
            <a:pPr marL="0" lvl="0" indent="0" algn="l" rtl="0">
              <a:lnSpc>
                <a:spcPct val="115000"/>
              </a:lnSpc>
              <a:spcBef>
                <a:spcPts val="1200"/>
              </a:spcBef>
              <a:spcAft>
                <a:spcPts val="0"/>
              </a:spcAft>
              <a:buNone/>
            </a:pPr>
            <a:r>
              <a:rPr lang="en-US" altLang="en-GB" sz="1800" b="1" dirty="0">
                <a:solidFill>
                  <a:schemeClr val="dk1"/>
                </a:solidFill>
                <a:latin typeface="Times New Roman Regular" panose="02020503050405090304" charset="0"/>
                <a:cs typeface="Times New Roman Regular" panose="02020503050405090304" charset="0"/>
                <a:sym typeface="+mn-ea"/>
              </a:rPr>
              <a:t>6</a:t>
            </a:r>
            <a:r>
              <a:rPr lang="en-GB" sz="1800" b="1" dirty="0">
                <a:solidFill>
                  <a:schemeClr val="dk1"/>
                </a:solidFill>
                <a:latin typeface="Times New Roman Regular" panose="02020503050405090304" charset="0"/>
                <a:cs typeface="Times New Roman Regular" panose="02020503050405090304" charset="0"/>
                <a:sym typeface="+mn-ea"/>
              </a:rPr>
              <a:t>.</a:t>
            </a:r>
            <a:r>
              <a:rPr lang="en-US" altLang="en-US" sz="1800" b="1" dirty="0">
                <a:solidFill>
                  <a:schemeClr val="dk1"/>
                </a:solidFill>
                <a:latin typeface="Times New Roman Bold" panose="02020503050405090304" charset="0"/>
                <a:cs typeface="Times New Roman Bold" panose="02020503050405090304" charset="0"/>
                <a:sym typeface="+mn-ea"/>
              </a:rPr>
              <a:t>Continuous Updates &amp; Feedback</a:t>
            </a:r>
            <a:endParaRPr lang="en-US" altLang="en-US" sz="1800" b="1" dirty="0">
              <a:solidFill>
                <a:schemeClr val="dk1"/>
              </a:solidFill>
              <a:latin typeface="Times New Roman Bold" panose="02020503050405090304" charset="0"/>
              <a:cs typeface="Times New Roman Bold"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Station data, traffic, and battery info continuously updated</a:t>
            </a:r>
            <a:endParaRPr lang="en-GB" altLang="en-US" sz="1800" dirty="0">
              <a:solidFill>
                <a:schemeClr val="dk1"/>
              </a:solidFill>
              <a:latin typeface="Times New Roman Regular" panose="02020503050405090304" charset="0"/>
              <a:cs typeface="Times New Roman Regular" panose="02020503050405090304" charset="0"/>
            </a:endParaRPr>
          </a:p>
          <a:p>
            <a:pPr marL="914400" lvl="1" indent="-298450" algn="l" rtl="0">
              <a:lnSpc>
                <a:spcPct val="115000"/>
              </a:lnSpc>
              <a:spcBef>
                <a:spcPts val="0"/>
              </a:spcBef>
              <a:spcAft>
                <a:spcPts val="0"/>
              </a:spcAft>
              <a:buClr>
                <a:schemeClr val="dk1"/>
              </a:buClr>
              <a:buSzPts val="1100"/>
              <a:buChar char="○"/>
            </a:pPr>
            <a:r>
              <a:rPr lang="en-US" altLang="en-US" sz="1800" dirty="0">
                <a:solidFill>
                  <a:schemeClr val="dk1"/>
                </a:solidFill>
                <a:latin typeface="Times New Roman Regular" panose="02020503050405090304" charset="0"/>
                <a:cs typeface="Times New Roman Regular" panose="02020503050405090304" charset="0"/>
                <a:sym typeface="+mn-ea"/>
              </a:rPr>
              <a:t>Models retrain periodically with new data for better predictions</a:t>
            </a:r>
            <a:endParaRPr lang="en-US" dirty="0">
              <a:latin typeface="Times New Roman Regular" panose="02020503050405090304" charset="0"/>
              <a:cs typeface="Times New Roman Regular" panose="02020503050405090304" charset="0"/>
            </a:endParaRPr>
          </a:p>
        </p:txBody>
      </p:sp>
      <p:pic>
        <p:nvPicPr>
          <p:cNvPr id="166" name="Google Shape;166;p24"/>
          <p:cNvPicPr preferRelativeResize="0"/>
          <p:nvPr/>
        </p:nvPicPr>
        <p:blipFill>
          <a:blip r:embed="rId2"/>
          <a:stretch>
            <a:fillRect/>
          </a:stretch>
        </p:blipFill>
        <p:spPr>
          <a:xfrm>
            <a:off x="8611800" y="0"/>
            <a:ext cx="532200" cy="695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p:nvPr/>
        </p:nvSpPr>
        <p:spPr>
          <a:xfrm>
            <a:off x="-59925" y="347850"/>
            <a:ext cx="9144000" cy="47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500" b="1" dirty="0">
                <a:latin typeface="Times New Roman Bold" panose="02020503050405090304" charset="0"/>
                <a:cs typeface="Times New Roman Bold" panose="02020503050405090304" charset="0"/>
              </a:rPr>
              <a:t>Tech Stack</a:t>
            </a:r>
            <a:endParaRPr lang="en-GB" sz="2500" b="1" dirty="0">
              <a:solidFill>
                <a:srgbClr val="000000"/>
              </a:solidFill>
              <a:latin typeface="Times New Roman Bold" panose="02020503050405090304" charset="0"/>
              <a:cs typeface="Times New Roman Bold" panose="02020503050405090304" charset="0"/>
            </a:endParaRPr>
          </a:p>
        </p:txBody>
      </p:sp>
      <p:sp>
        <p:nvSpPr>
          <p:cNvPr id="135" name="Google Shape;135;p21"/>
          <p:cNvSpPr txBox="1"/>
          <p:nvPr/>
        </p:nvSpPr>
        <p:spPr>
          <a:xfrm>
            <a:off x="515550" y="962381"/>
            <a:ext cx="8096250" cy="1978660"/>
          </a:xfrm>
          <a:prstGeom prst="rect">
            <a:avLst/>
          </a:prstGeom>
          <a:noFill/>
          <a:ln>
            <a:noFill/>
          </a:ln>
        </p:spPr>
        <p:txBody>
          <a:bodyPr spcFirstLastPara="1" wrap="square" lIns="91425" tIns="91425" rIns="91425" bIns="91425" anchor="t" anchorCtr="0">
            <a:noAutofit/>
          </a:bodyPr>
          <a:lstStyle/>
          <a:p>
            <a:pPr marL="285750" lvl="0" indent="-285750" algn="l" rtl="0">
              <a:lnSpc>
                <a:spcPct val="100000"/>
              </a:lnSpc>
              <a:spcBef>
                <a:spcPts val="1200"/>
              </a:spcBef>
              <a:spcAft>
                <a:spcPts val="0"/>
              </a:spcAft>
              <a:buFont typeface="Arial" panose="020B0604020202090204" pitchFamily="34" charset="0"/>
              <a:buChar char="•"/>
            </a:pPr>
            <a:r>
              <a:rPr lang="en-US" altLang="en-US" sz="1800" b="1" dirty="0">
                <a:solidFill>
                  <a:schemeClr val="tx1"/>
                </a:solidFill>
                <a:latin typeface="Times New Roman Bold" panose="02020503050405090304" charset="0"/>
                <a:cs typeface="Times New Roman Bold" panose="02020503050405090304" charset="0"/>
              </a:rPr>
              <a:t>Backend:</a:t>
            </a:r>
            <a:r>
              <a:rPr lang="en-US" altLang="en-US" sz="1800" dirty="0">
                <a:solidFill>
                  <a:schemeClr val="tx1"/>
                </a:solidFill>
                <a:latin typeface="Times New Roman Regular" panose="02020503050405090304" charset="0"/>
                <a:cs typeface="Times New Roman Regular" panose="02020503050405090304" charset="0"/>
              </a:rPr>
              <a:t> Node.js + Express.js, Python (ML), PostgreSQL, Redis (cache)</a:t>
            </a:r>
          </a:p>
          <a:p>
            <a:pPr marL="285750" lvl="0" indent="-285750" algn="l" rtl="0">
              <a:lnSpc>
                <a:spcPct val="100000"/>
              </a:lnSpc>
              <a:spcBef>
                <a:spcPts val="1200"/>
              </a:spcBef>
              <a:spcAft>
                <a:spcPts val="0"/>
              </a:spcAft>
              <a:buFont typeface="Arial" panose="020B0604020202090204" pitchFamily="34" charset="0"/>
              <a:buChar char="•"/>
            </a:pPr>
            <a:r>
              <a:rPr lang="en-US" altLang="en-US" sz="1800" b="1" dirty="0">
                <a:solidFill>
                  <a:schemeClr val="tx1"/>
                </a:solidFill>
                <a:latin typeface="Times New Roman Bold" panose="02020503050405090304" charset="0"/>
                <a:cs typeface="Times New Roman Bold" panose="02020503050405090304" charset="0"/>
              </a:rPr>
              <a:t>Frontend:</a:t>
            </a:r>
            <a:r>
              <a:rPr lang="en-US" altLang="en-US" sz="1800" dirty="0">
                <a:solidFill>
                  <a:schemeClr val="tx1"/>
                </a:solidFill>
                <a:latin typeface="Times New Roman Regular" panose="02020503050405090304" charset="0"/>
                <a:cs typeface="Times New Roman Regular" panose="02020503050405090304" charset="0"/>
              </a:rPr>
              <a:t> React.js, Google Maps API, QR Scanner</a:t>
            </a:r>
          </a:p>
          <a:p>
            <a:pPr marL="285750" lvl="0" indent="-285750" algn="l" rtl="0">
              <a:lnSpc>
                <a:spcPct val="100000"/>
              </a:lnSpc>
              <a:spcBef>
                <a:spcPts val="1200"/>
              </a:spcBef>
              <a:spcAft>
                <a:spcPts val="0"/>
              </a:spcAft>
              <a:buFont typeface="Arial" panose="020B0604020202090204" pitchFamily="34" charset="0"/>
              <a:buChar char="•"/>
            </a:pPr>
            <a:r>
              <a:rPr lang="en-US" altLang="en-US" sz="1800" b="1" dirty="0">
                <a:solidFill>
                  <a:schemeClr val="tx1"/>
                </a:solidFill>
                <a:latin typeface="Times New Roman Bold" panose="02020503050405090304" charset="0"/>
                <a:cs typeface="Times New Roman Bold" panose="02020503050405090304" charset="0"/>
              </a:rPr>
              <a:t>ML / AI:</a:t>
            </a:r>
            <a:r>
              <a:rPr lang="en-US" altLang="en-US" sz="1800" dirty="0">
                <a:solidFill>
                  <a:schemeClr val="tx1"/>
                </a:solidFill>
                <a:latin typeface="Times New Roman Regular" panose="02020503050405090304" charset="0"/>
                <a:cs typeface="Times New Roman Regular" panose="02020503050405090304" charset="0"/>
              </a:rPr>
              <a:t> Regression (range), ML/analytics (wait time), BERT (chatbot)</a:t>
            </a:r>
          </a:p>
          <a:p>
            <a:pPr marL="285750" lvl="0" indent="-285750" algn="l" rtl="0">
              <a:lnSpc>
                <a:spcPct val="100000"/>
              </a:lnSpc>
              <a:spcBef>
                <a:spcPts val="1200"/>
              </a:spcBef>
              <a:spcAft>
                <a:spcPts val="0"/>
              </a:spcAft>
              <a:buFont typeface="Arial" panose="020B0604020202090204" pitchFamily="34" charset="0"/>
              <a:buChar char="•"/>
            </a:pPr>
            <a:r>
              <a:rPr lang="en-US" altLang="en-US" sz="1800" b="1" dirty="0">
                <a:solidFill>
                  <a:schemeClr val="tx1"/>
                </a:solidFill>
                <a:latin typeface="Times New Roman Bold" panose="02020503050405090304" charset="0"/>
                <a:cs typeface="Times New Roman Bold" panose="02020503050405090304" charset="0"/>
              </a:rPr>
              <a:t>Offline:</a:t>
            </a:r>
            <a:r>
              <a:rPr lang="en-US" altLang="en-US" sz="1800" dirty="0">
                <a:solidFill>
                  <a:schemeClr val="tx1"/>
                </a:solidFill>
                <a:latin typeface="Times New Roman Regular" panose="02020503050405090304" charset="0"/>
                <a:cs typeface="Times New Roman Regular" panose="02020503050405090304" charset="0"/>
              </a:rPr>
              <a:t> Local cache + sync module</a:t>
            </a:r>
          </a:p>
          <a:p>
            <a:pPr marL="0" lvl="0" indent="0" algn="l" rtl="0">
              <a:lnSpc>
                <a:spcPct val="100000"/>
              </a:lnSpc>
              <a:spcBef>
                <a:spcPts val="1200"/>
              </a:spcBef>
              <a:spcAft>
                <a:spcPts val="0"/>
              </a:spcAft>
              <a:buNone/>
            </a:pPr>
            <a:endParaRPr lang="en-US" altLang="en-US" sz="1800" dirty="0">
              <a:solidFill>
                <a:schemeClr val="tx1"/>
              </a:solidFill>
              <a:latin typeface="Times New Roman Regular" panose="02020503050405090304" charset="0"/>
              <a:cs typeface="Times New Roman Regular" panose="02020503050405090304" charset="0"/>
            </a:endParaRPr>
          </a:p>
        </p:txBody>
      </p:sp>
      <p:pic>
        <p:nvPicPr>
          <p:cNvPr id="136" name="Google Shape;136;p21"/>
          <p:cNvPicPr preferRelativeResize="0"/>
          <p:nvPr/>
        </p:nvPicPr>
        <p:blipFill>
          <a:blip r:embed="rId3"/>
          <a:stretch>
            <a:fillRect/>
          </a:stretch>
        </p:blipFill>
        <p:spPr>
          <a:xfrm>
            <a:off x="8611800" y="0"/>
            <a:ext cx="532200" cy="695700"/>
          </a:xfrm>
          <a:prstGeom prst="rect">
            <a:avLst/>
          </a:prstGeom>
          <a:noFill/>
          <a:ln>
            <a:noFill/>
          </a:ln>
        </p:spPr>
      </p:pic>
      <p:sp>
        <p:nvSpPr>
          <p:cNvPr id="138" name="Google Shape;138;p21"/>
          <p:cNvSpPr txBox="1"/>
          <p:nvPr/>
        </p:nvSpPr>
        <p:spPr>
          <a:xfrm>
            <a:off x="8791275" y="4770075"/>
            <a:ext cx="2928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9</a:t>
            </a:r>
            <a:endParaRPr sz="500">
              <a:solidFill>
                <a:srgbClr val="666666"/>
              </a:solidFill>
              <a:latin typeface="Calibri"/>
              <a:ea typeface="Calibri"/>
              <a:cs typeface="Calibri"/>
              <a:sym typeface="Calibri"/>
            </a:endParaRPr>
          </a:p>
        </p:txBody>
      </p:sp>
      <p:sp>
        <p:nvSpPr>
          <p:cNvPr id="139" name="Google Shape;139;p21"/>
          <p:cNvSpPr txBox="1"/>
          <p:nvPr/>
        </p:nvSpPr>
        <p:spPr>
          <a:xfrm>
            <a:off x="0" y="4835700"/>
            <a:ext cx="16380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11/09/2025</a:t>
            </a:r>
            <a:endParaRPr sz="500">
              <a:solidFill>
                <a:srgbClr val="66666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6"/>
          <p:cNvSpPr txBox="1"/>
          <p:nvPr/>
        </p:nvSpPr>
        <p:spPr>
          <a:xfrm>
            <a:off x="-87485" y="385985"/>
            <a:ext cx="8520600" cy="572700"/>
          </a:xfrm>
          <a:prstGeom prst="rect">
            <a:avLst/>
          </a:prstGeom>
          <a:noFill/>
          <a:ln>
            <a:noFill/>
          </a:ln>
        </p:spPr>
        <p:txBody>
          <a:bodyPr spcFirstLastPara="1" wrap="square" lIns="91425" tIns="91425" rIns="91425" bIns="91425" anchor="t" anchorCtr="0">
            <a:normAutofit fontScale="97500" lnSpcReduction="10000"/>
          </a:bodyPr>
          <a:lstStyle/>
          <a:p>
            <a:pPr marL="0" lvl="0" indent="0" algn="ctr" rtl="0">
              <a:spcBef>
                <a:spcPts val="0"/>
              </a:spcBef>
              <a:spcAft>
                <a:spcPts val="0"/>
              </a:spcAft>
              <a:buNone/>
            </a:pPr>
            <a:r>
              <a:rPr lang="en-GB" sz="2800" b="1">
                <a:latin typeface="Times New Roman Bold" panose="02020503050405090304" charset="0"/>
                <a:cs typeface="Times New Roman Bold" panose="02020503050405090304" charset="0"/>
              </a:rPr>
              <a:t>Conclusion</a:t>
            </a:r>
            <a:endParaRPr lang="en-GB" sz="2800" b="1">
              <a:solidFill>
                <a:srgbClr val="000000"/>
              </a:solidFill>
              <a:latin typeface="Times New Roman Bold" panose="02020503050405090304" charset="0"/>
              <a:cs typeface="Times New Roman Bold" panose="02020503050405090304" charset="0"/>
            </a:endParaRPr>
          </a:p>
        </p:txBody>
      </p:sp>
      <p:sp>
        <p:nvSpPr>
          <p:cNvPr id="188" name="Google Shape;188;p26"/>
          <p:cNvSpPr txBox="1"/>
          <p:nvPr/>
        </p:nvSpPr>
        <p:spPr>
          <a:xfrm>
            <a:off x="401425" y="1156240"/>
            <a:ext cx="8568900" cy="3416400"/>
          </a:xfrm>
          <a:prstGeom prst="rect">
            <a:avLst/>
          </a:prstGeom>
          <a:noFill/>
          <a:ln>
            <a:noFill/>
          </a:ln>
        </p:spPr>
        <p:txBody>
          <a:bodyPr spcFirstLastPara="1" wrap="square" lIns="91425" tIns="91425" rIns="91425" bIns="91425" anchor="t" anchorCtr="0">
            <a:noAutofit/>
          </a:bodyPr>
          <a:lstStyle/>
          <a:p>
            <a:pPr marL="457200" lvl="0" indent="-330200" algn="l" rtl="0">
              <a:lnSpc>
                <a:spcPct val="105000"/>
              </a:lnSpc>
              <a:spcBef>
                <a:spcPts val="1200"/>
              </a:spcBef>
              <a:spcAft>
                <a:spcPts val="0"/>
              </a:spcAft>
              <a:buClr>
                <a:srgbClr val="000000"/>
              </a:buClr>
              <a:buSzPts val="1600"/>
              <a:buChar char="●"/>
            </a:pPr>
            <a:r>
              <a:rPr lang="en-US" altLang="en-US" sz="1800">
                <a:solidFill>
                  <a:srgbClr val="000000"/>
                </a:solidFill>
                <a:latin typeface="Times New Roman Regular" panose="02020503050405090304" charset="0"/>
                <a:cs typeface="Times New Roman Regular" panose="02020503050405090304" charset="0"/>
              </a:rPr>
              <a:t>Our project ChargeX , provides an all-in-one EV charging solution.</a:t>
            </a:r>
          </a:p>
          <a:p>
            <a:pPr marL="457200" lvl="0" indent="-330200" algn="l" rtl="0">
              <a:lnSpc>
                <a:spcPct val="105000"/>
              </a:lnSpc>
              <a:spcBef>
                <a:spcPts val="1200"/>
              </a:spcBef>
              <a:spcAft>
                <a:spcPts val="0"/>
              </a:spcAft>
              <a:buClr>
                <a:srgbClr val="000000"/>
              </a:buClr>
              <a:buSzPts val="1600"/>
              <a:buChar char="●"/>
            </a:pPr>
            <a:r>
              <a:rPr lang="en-US" altLang="en-US" sz="1800">
                <a:solidFill>
                  <a:srgbClr val="000000"/>
                </a:solidFill>
                <a:latin typeface="Times New Roman Regular" panose="02020503050405090304" charset="0"/>
                <a:cs typeface="Times New Roman Regular" panose="02020503050405090304" charset="0"/>
              </a:rPr>
              <a:t>Ensures reliable station discovery and slot booking.</a:t>
            </a:r>
          </a:p>
          <a:p>
            <a:pPr marL="457200" lvl="0" indent="-330200" algn="l" rtl="0">
              <a:lnSpc>
                <a:spcPct val="105000"/>
              </a:lnSpc>
              <a:spcBef>
                <a:spcPts val="1200"/>
              </a:spcBef>
              <a:spcAft>
                <a:spcPts val="0"/>
              </a:spcAft>
              <a:buClr>
                <a:srgbClr val="000000"/>
              </a:buClr>
              <a:buSzPts val="1600"/>
              <a:buChar char="●"/>
            </a:pPr>
            <a:r>
              <a:rPr lang="en-US" altLang="en-US" sz="1800">
                <a:solidFill>
                  <a:srgbClr val="000000"/>
                </a:solidFill>
                <a:latin typeface="Times New Roman Regular" panose="02020503050405090304" charset="0"/>
                <a:cs typeface="Times New Roman Regular" panose="02020503050405090304" charset="0"/>
              </a:rPr>
              <a:t>Reduces range anxiety with ML-based predictions.</a:t>
            </a:r>
          </a:p>
          <a:p>
            <a:pPr marL="457200" lvl="0" indent="-330200" algn="l" rtl="0">
              <a:lnSpc>
                <a:spcPct val="105000"/>
              </a:lnSpc>
              <a:spcBef>
                <a:spcPts val="1200"/>
              </a:spcBef>
              <a:spcAft>
                <a:spcPts val="0"/>
              </a:spcAft>
              <a:buClr>
                <a:srgbClr val="000000"/>
              </a:buClr>
              <a:buSzPts val="1600"/>
              <a:buChar char="●"/>
            </a:pPr>
            <a:r>
              <a:rPr lang="en-US" altLang="en-US" sz="1800">
                <a:solidFill>
                  <a:srgbClr val="000000"/>
                </a:solidFill>
                <a:latin typeface="Times New Roman Regular" panose="02020503050405090304" charset="0"/>
                <a:cs typeface="Times New Roman Regular" panose="02020503050405090304" charset="0"/>
              </a:rPr>
              <a:t>Works smoothly in offline or poor network conditions.</a:t>
            </a:r>
          </a:p>
          <a:p>
            <a:pPr marL="457200" lvl="0" indent="-330200" algn="l" rtl="0">
              <a:lnSpc>
                <a:spcPct val="105000"/>
              </a:lnSpc>
              <a:spcBef>
                <a:spcPts val="1200"/>
              </a:spcBef>
              <a:spcAft>
                <a:spcPts val="0"/>
              </a:spcAft>
              <a:buClr>
                <a:srgbClr val="000000"/>
              </a:buClr>
              <a:buSzPts val="1600"/>
              <a:buChar char="●"/>
            </a:pPr>
            <a:r>
              <a:rPr lang="en-US" altLang="en-US" sz="1800">
                <a:solidFill>
                  <a:srgbClr val="000000"/>
                </a:solidFill>
                <a:latin typeface="Times New Roman Regular" panose="02020503050405090304" charset="0"/>
                <a:cs typeface="Times New Roman Regular" panose="02020503050405090304" charset="0"/>
              </a:rPr>
              <a:t>Supports scalable,sustainable, user-friendly EV adoption for the future.</a:t>
            </a:r>
          </a:p>
          <a:p>
            <a:pPr marL="0" lvl="0" indent="0" algn="l" rtl="0">
              <a:lnSpc>
                <a:spcPct val="105000"/>
              </a:lnSpc>
              <a:spcBef>
                <a:spcPts val="1200"/>
              </a:spcBef>
              <a:spcAft>
                <a:spcPts val="1200"/>
              </a:spcAft>
              <a:buNone/>
            </a:pPr>
            <a:endParaRPr sz="1800">
              <a:solidFill>
                <a:srgbClr val="595959"/>
              </a:solidFill>
              <a:latin typeface="Times New Roman Regular" panose="02020503050405090304" charset="0"/>
              <a:cs typeface="Times New Roman Regular" panose="02020503050405090304" charset="0"/>
            </a:endParaRPr>
          </a:p>
        </p:txBody>
      </p:sp>
      <p:pic>
        <p:nvPicPr>
          <p:cNvPr id="189" name="Google Shape;189;p26"/>
          <p:cNvPicPr preferRelativeResize="0"/>
          <p:nvPr/>
        </p:nvPicPr>
        <p:blipFill>
          <a:blip r:embed="rId3"/>
          <a:stretch>
            <a:fillRect/>
          </a:stretch>
        </p:blipFill>
        <p:spPr>
          <a:xfrm>
            <a:off x="8611800" y="0"/>
            <a:ext cx="532200" cy="695700"/>
          </a:xfrm>
          <a:prstGeom prst="rect">
            <a:avLst/>
          </a:prstGeom>
          <a:noFill/>
          <a:ln>
            <a:noFill/>
          </a:ln>
        </p:spPr>
      </p:pic>
      <p:sp>
        <p:nvSpPr>
          <p:cNvPr id="191" name="Google Shape;191;p26"/>
          <p:cNvSpPr txBox="1"/>
          <p:nvPr/>
        </p:nvSpPr>
        <p:spPr>
          <a:xfrm>
            <a:off x="8741050" y="4770075"/>
            <a:ext cx="3429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14</a:t>
            </a:r>
            <a:endParaRPr sz="500">
              <a:solidFill>
                <a:srgbClr val="666666"/>
              </a:solidFill>
              <a:latin typeface="Calibri"/>
              <a:ea typeface="Calibri"/>
              <a:cs typeface="Calibri"/>
              <a:sym typeface="Calibri"/>
            </a:endParaRPr>
          </a:p>
        </p:txBody>
      </p:sp>
      <p:sp>
        <p:nvSpPr>
          <p:cNvPr id="192" name="Google Shape;192;p26"/>
          <p:cNvSpPr txBox="1"/>
          <p:nvPr/>
        </p:nvSpPr>
        <p:spPr>
          <a:xfrm>
            <a:off x="0" y="4835700"/>
            <a:ext cx="1638000" cy="307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800">
                <a:solidFill>
                  <a:srgbClr val="666666"/>
                </a:solidFill>
              </a:rPr>
              <a:t>11/09/2025</a:t>
            </a:r>
            <a:endParaRPr sz="500">
              <a:solidFill>
                <a:srgbClr val="66666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1331</Words>
  <Application>Microsoft Office PowerPoint</Application>
  <PresentationFormat>On-screen Show (16:9)</PresentationFormat>
  <Paragraphs>150</Paragraphs>
  <Slides>16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Times New Roman</vt:lpstr>
      <vt:lpstr>Times New Roman Bold</vt:lpstr>
      <vt:lpstr>Times New Roman Regular</vt:lpstr>
      <vt:lpstr>Simple Light</vt:lpstr>
      <vt:lpstr>PowerPoint Presentation</vt:lpstr>
      <vt:lpstr>PowerPoint Presentation</vt:lpstr>
      <vt:lpstr>Objectives</vt:lpstr>
      <vt:lpstr>PowerPoint Presentation</vt:lpstr>
      <vt:lpstr>Literature Review</vt:lpstr>
      <vt:lpstr>Literature Review</vt:lpstr>
      <vt:lpstr>Architecture</vt:lpstr>
      <vt:lpstr>Architecture</vt:lpstr>
      <vt:lpstr>Architecture</vt:lpstr>
      <vt:lpstr>Architecture</vt:lpstr>
      <vt:lpstr>WORK FLOW DIAGRAM</vt:lpstr>
      <vt:lpstr>PowerPoint Presentation</vt:lpstr>
      <vt:lpstr>PowerPoint Presentation</vt:lpstr>
      <vt:lpstr>Workflow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junna saitarun</cp:lastModifiedBy>
  <cp:revision>8</cp:revision>
  <dcterms:created xsi:type="dcterms:W3CDTF">2025-09-17T16:07:46Z</dcterms:created>
  <dcterms:modified xsi:type="dcterms:W3CDTF">2025-09-17T16:18:36Z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E6631772AA8F6AF2D2DCCA685E32CB6B_43</vt:lpwstr>
  </property>
  <property fmtid="{D5CDD505-2E9C-101B-9397-08002B2CF9AE}" pid="3" name="KSOProductBuildVer">
    <vt:lpwstr>1033-6.14.0.8718</vt:lpwstr>
  </property>
</Properties>
</file>